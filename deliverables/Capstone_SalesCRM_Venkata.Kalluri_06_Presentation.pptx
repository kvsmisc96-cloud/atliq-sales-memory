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8444654-1df2-42f2-5f23-0fb1f9aeb254}">
          <p14:sldIdLst>
            <p14:sldId id="256"/>
            <p14:sldId id="257"/>
          </p14:sldIdLst>
        </p14:section>
        <p14:section name="Problem and discovery" id="{75b36966-171d-ce4f-f999-93893c24f3f4}">
          <p14:sldIdLst>
            <p14:sldId id="258"/>
            <p14:sldId id="259"/>
            <p14:sldId id="260"/>
            <p14:sldId id="261"/>
          </p14:sldIdLst>
        </p14:section>
        <p14:section name="Opportunity" id="{27c60795-3b8b-abbc-c1dc-fd5f77cc0063}">
          <p14:sldIdLst>
            <p14:sldId id="262"/>
          </p14:sldIdLst>
        </p14:section>
        <p14:section name="Solution and walkthrough" id="{ae5c2352-bc42-115d-2832-9c19ddcd57cb}">
          <p14:sldIdLst>
            <p14:sldId id="263"/>
            <p14:sldId id="264"/>
            <p14:sldId id="265"/>
            <p14:sldId id="266"/>
          </p14:sldIdLst>
        </p14:section>
        <p14:section name="Success metrics" id="{3f8cc5bf-cda4-4636-2c6e-1cef86fc4536}">
          <p14:sldIdLst>
            <p14:sldId id="267"/>
            <p14:sldId id="268"/>
          </p14:sldIdLst>
        </p14:section>
        <p14:section name="Risks and guardrails" id="{d70b00ea-a177-5d6b-1faa-f12e86605e10}">
          <p14:sldIdLst>
            <p14:sldId id="269"/>
          </p14:sldIdLst>
        </p14:section>
        <p14:section name="Next steps" id="{8ea9e199-1e78-7674-b37c-4fc197440a37}">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864"/>
                </a:solidFill>
                <a:latin typeface="+mn-lt"/>
              </a:defRPr>
            </a:pPr>
            <a:r>
              <a:rPr sz="1400" b="0" i="0" u="none" strike="noStrike">
                <a:solidFill>
                  <a:srgbClr val="1F3864"/>
                </a:solidFill>
                <a:latin typeface="+mn-lt"/>
              </a:rPr>
              <a:t>Monthly running cost (USD)</a:t>
            </a:r>
          </a:p>
        </c:rich>
      </c:tx>
      <c:layout/>
      <c:overlay val="0"/>
    </c:title>
    <c:autoTitleDeleted val="0"/>
    <c:plotArea>
      <c:layout/>
      <c:barChart>
        <c:barDir val="bar"/>
        <c:grouping val="clustered"/>
        <c:varyColors val="0"/>
        <c:ser>
          <c:idx val="0"/>
          <c:order val="0"/>
          <c:tx>
            <c:strRef>
              <c:f>Sheet1!$B$1</c:f>
              <c:strCache>
                <c:ptCount val="1"/>
                <c:pt idx="0">
                  <c:v>USD per month</c:v>
                </c:pt>
              </c:strCache>
            </c:strRef>
          </c:tx>
          <c:spPr>
            <a:solidFill>
              <a:srgbClr val="2A9D8F"/>
            </a:solidFill>
            <a:effectLst/>
          </c:spPr>
          <c:invertIfNegative val="0"/>
          <c:dLbls>
            <c:numFmt formatCode="$#,##0.0" sourceLinked="0"/>
            <c:txPr>
              <a:bodyPr/>
              <a:lstStyle/>
              <a:p>
                <a:pPr>
                  <a:defRPr b="0" i="0" strike="noStrike" sz="1300" u="none">
                    <a:solidFill>
                      <a:srgbClr val="1B2333"/>
                    </a:solidFill>
                    <a:latin typeface="+mn-lt"/>
                  </a:defRPr>
                </a:pPr>
              </a:p>
            </c:txPr>
            <c:showLegendKey val="0"/>
            <c:showVal val="1"/>
            <c:showCatName val="0"/>
            <c:showSerName val="0"/>
            <c:showPercent val="0"/>
            <c:showBubbleSize val="0"/>
            <c:showLeaderLines val="0"/>
          </c:dLbls>
          <c:dPt>
            <c:idx val="0"/>
            <c:invertIfNegative val="0"/>
            <c:bubble3D val="0"/>
            <c:spPr>
              <a:solidFill>
                <a:srgbClr val="2A9D8F"/>
              </a:solidFill>
              <a:effectLst/>
            </c:spPr>
          </c:dPt>
          <c:dPt>
            <c:idx val="1"/>
            <c:invertIfNegative val="0"/>
            <c:bubble3D val="0"/>
            <c:spPr>
              <a:solidFill>
                <a:srgbClr val="5B7DB1"/>
              </a:solidFill>
              <a:effectLst/>
            </c:spPr>
          </c:dPt>
          <c:dPt>
            <c:idx val="2"/>
            <c:invertIfNegative val="0"/>
            <c:bubble3D val="0"/>
            <c:spPr>
              <a:solidFill>
                <a:srgbClr val="1F3864"/>
              </a:solidFill>
              <a:effectLst/>
            </c:spPr>
          </c:dPt>
          <c:cat>
            <c:multiLvlStrRef>
              <c:f>Sheet1!$A$2:$A$4</c:f>
              <c:multiLvlStrCache>
                <c:ptCount val="3"/>
                <c:lvl>
                  <c:pt idx="0">
                    <c:v>AI models</c:v>
                  </c:pt>
                  <c:pt idx="1">
                    <c:v>Hosting and tools</c:v>
                  </c:pt>
                  <c:pt idx="2">
                    <c:v>Maintenance</c:v>
                  </c:pt>
                </c:lvl>
              </c:multiLvlStrCache>
            </c:multiLvlStrRef>
          </c:cat>
          <c:val>
            <c:numRef>
              <c:f>Sheet1!$B$2:$B$4</c:f>
              <c:numCache>
                <c:formatCode>General</c:formatCode>
                <c:ptCount val="3"/>
                <c:pt idx="0">
                  <c:v>6.5</c:v>
                </c:pt>
                <c:pt idx="1">
                  <c:v>85</c:v>
                </c:pt>
                <c:pt idx="2">
                  <c:v>363</c:v>
                </c:pt>
              </c:numCache>
            </c:numRef>
          </c:val>
        </c:ser>
        <c:dLbls>
          <c:numFmt formatCode="$#,##0.0" sourceLinked="0"/>
          <c:txPr>
            <a:bodyPr/>
            <a:lstStyle/>
            <a:p>
              <a:pPr>
                <a:defRPr b="0" i="0" strike="noStrike" sz="1300" u="none">
                  <a:solidFill>
                    <a:srgbClr val="1B23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33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AtliQ is a small data and AI services company where the founders do the selling. This deck walks through the problem we found, the opportunity we chose, the prototype we built, how we will measure success, and the risks and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slide, it is this one. The rest of the deck backs up each of these four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come straight from the dataset. The CRM is empty where it matters most: not one record has a follow-up date. The founders said it themselves: we find out what's urgent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persona is a composite of the three founders. Their behaviour is the key: they answer email on the phone between meetings and plan to update the CRM later, which rarely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walked one deal at a time through the sales journey and asked where it leaks. Seven stages, seven leaks, each with a real example from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whys, starting from the most expensive symptom: FinEdge. The answer isn't more discipline. The team already tried that twice. The fix has to remove the retyping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idea was scored on impact and feasibility from 1 to 5. The rejected ideas matter as much as the chosen ones: we deliberately said no to an AI that emails clients on its own, because founder-led sales runs on personal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Karandeep wrote 'I'll send both, plus a reference, by Friday' to ByteBridge on Tuesday 12 May. The AI pulls out that promise with the quote. The checker confirms the quote is in the email. The rules work out the due date, 15 May, and that it is 56 days overdue.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open the Daily brief, switch to Bhavin, open Sources on Meridian, then mark it done and show the next item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CRM page shows 52 suggested fixes. Here Harbor &amp; Finch has been approved, and the audit log records who approved it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Evals are the PM's safety net. If someone changes a prompt or a rule and breaks a known answer, this page turns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North Star captures the whole problem in one number: did the thing that was due get done on time? Today it is about 6 of 36. The supporting metrics explain why it moves, and the guardrail metrics make sure we don't buy speed with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Volumes: about 60 emails and 4 notes a day, and 15 draft replies a day. The AI is about 1% of the cost, so the model choice is about quality, not money. We use the cheap model for high-volume reading and the stronger model for the client-facing drafts.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guardrail from the Step 2 opportunity map is built into the prototype, not just written down. The third column is how we would know if it stopped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rollout starts small on purpose: one founder, three features, and the North Star tracked weekly before anyone else is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3" name="Text 0"/>
          <p:cNvSpPr/>
          <p:nvPr>
            <p:ph idx="101" type="body" hasCustomPrompt="1"/>
          </p:nvPr>
        </p:nvSpPr>
        <p:spPr>
          <a:xfrm>
            <a:off x="731520" y="3383280"/>
            <a:ext cx="9601200" cy="109728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rtlCol="0"/>
          <a:lstStyle>
            <a:lvl1pPr indent="0" marL="0">
              <a:buNone/>
              <a:defRPr lang="en-US" sz="3600" b="1" dirty="0">
                <a:solidFill>
                  <a:schemeClr val="tx2"/>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AtliQ Sales Memory Assistant  ·  AI PM Capstone</a:t>
            </a:r>
            <a:endParaRPr lang="en-US" sz="1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kvsmisc96-cloud/atliq-sales-memory" TargetMode="External"/><Relationship Id="rId1"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AtliQ Sales Memory Assistant</a:t>
            </a:r>
            <a:endParaRPr lang="en-US" sz="4800" dirty="0"/>
          </a:p>
        </p:txBody>
      </p:sp>
      <p:sp>
        <p:nvSpPr>
          <p:cNvPr id="3" name="Text 0"/>
          <p:cNvSpPr/>
          <p:nvPr>
            <p:ph idx="101" type="body" hasCustomPrompt="1"/>
          </p:nvPr>
        </p:nvSpPr>
        <p:spPr>
          <a:xfrm>
            <a:off x="731520" y="338328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An AI assistant that remembers every client promise, so busy founders don't have to</a:t>
            </a:r>
            <a:endParaRPr lang="en-US" sz="2200" dirty="0"/>
          </a:p>
        </p:txBody>
      </p:sp>
      <p:sp>
        <p:nvSpPr>
          <p:cNvPr id="4" name="byline"/>
          <p:cNvSpPr txBox="1"/>
          <p:nvPr/>
        </p:nvSpPr>
        <p:spPr>
          <a:xfrm>
            <a:off x="731520" y="5760720"/>
            <a:ext cx="8229600" cy="365760"/>
          </a:xfrm>
          <a:prstGeom prst="rect">
            <a:avLst/>
          </a:prstGeom>
          <a:noFill/>
          <a:ln/>
        </p:spPr>
        <p:txBody>
          <a:bodyPr wrap="square" lIns="0" tIns="0" rIns="0" bIns="0" rtlCol="0" anchor="t"/>
          <a:lstStyle/>
          <a:p>
            <a:pPr indent="0" marL="0">
              <a:buNone/>
            </a:pPr>
            <a:r>
              <a:rPr lang="en-US" sz="1600" dirty="0">
                <a:solidFill>
                  <a:schemeClr val="accent1"/>
                </a:solidFill>
              </a:rPr>
              <a:t>Venkat  ·  Codebasics AI PM Capstone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The story in one slide</a:t>
            </a:r>
            <a:endParaRPr lang="en-US" sz="3600" dirty="0"/>
          </a:p>
        </p:txBody>
      </p:sp>
      <p:sp>
        <p:nvSpPr>
          <p:cNvPr id="3" name="summary card Problem"/>
          <p:cNvSpPr/>
          <p:nvPr/>
        </p:nvSpPr>
        <p:spPr>
          <a:xfrm>
            <a:off x="548640" y="1417320"/>
            <a:ext cx="2587752" cy="4206240"/>
          </a:xfrm>
          <a:prstGeom prst="roundRect">
            <a:avLst>
              <a:gd name="adj" fmla="val 2827"/>
            </a:avLst>
          </a:prstGeom>
          <a:solidFill>
            <a:schemeClr val="bg2"/>
          </a:solidFill>
          <a:ln w="12700">
            <a:solidFill>
              <a:schemeClr val="bg2"/>
            </a:solidFill>
            <a:prstDash val="solid"/>
          </a:ln>
        </p:spPr>
      </p:sp>
      <p:sp>
        <p:nvSpPr>
          <p:cNvPr id="4" name="summary Problem circle"/>
          <p:cNvSpPr/>
          <p:nvPr/>
        </p:nvSpPr>
        <p:spPr>
          <a:xfrm>
            <a:off x="822960" y="1691640"/>
            <a:ext cx="731520" cy="731520"/>
          </a:xfrm>
          <a:prstGeom prst="ellipse">
            <a:avLst/>
          </a:prstGeom>
          <a:solidFill>
            <a:schemeClr val="accent3"/>
          </a:solidFill>
          <a:ln w="12700">
            <a:solidFill>
              <a:schemeClr val="accent3"/>
            </a:solidFill>
            <a:prstDash val="solid"/>
          </a:ln>
        </p:spPr>
      </p:sp>
      <p:pic>
        <p:nvPicPr>
          <p:cNvPr id="5" name="summary Problem icon" descr="preencoded.png">    </p:cNvPr>
          <p:cNvPicPr>
            <a:picLocks noChangeAspect="1"/>
          </p:cNvPicPr>
          <p:nvPr/>
        </p:nvPicPr>
        <p:blipFill>
          <a:blip r:embed="rId1"/>
          <a:stretch>
            <a:fillRect/>
          </a:stretch>
        </p:blipFill>
        <p:spPr>
          <a:xfrm>
            <a:off x="1005840" y="1874520"/>
            <a:ext cx="365760" cy="365760"/>
          </a:xfrm>
          <a:prstGeom prst="rect">
            <a:avLst/>
          </a:prstGeom>
        </p:spPr>
      </p:pic>
      <p:sp>
        <p:nvSpPr>
          <p:cNvPr id="6" name="summary Problem heading"/>
          <p:cNvSpPr txBox="1"/>
          <p:nvPr/>
        </p:nvSpPr>
        <p:spPr>
          <a:xfrm>
            <a:off x="822960" y="265176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Problem</a:t>
            </a:r>
            <a:endParaRPr lang="en-US" sz="2200" dirty="0"/>
          </a:p>
        </p:txBody>
      </p:sp>
      <p:sp>
        <p:nvSpPr>
          <p:cNvPr id="7" name="summary Problem body"/>
          <p:cNvSpPr txBox="1"/>
          <p:nvPr/>
        </p:nvSpPr>
        <p:spPr>
          <a:xfrm>
            <a:off x="822960" y="3200400"/>
            <a:ext cx="2103120" cy="2286000"/>
          </a:xfrm>
          <a:prstGeom prst="rect">
            <a:avLst/>
          </a:prstGeom>
          <a:noFill/>
          <a:ln/>
        </p:spPr>
        <p:txBody>
          <a:bodyPr wrap="square" lIns="0" tIns="0" rIns="0" bIns="0" rtlCol="0" anchor="t"/>
          <a:lstStyle/>
          <a:p>
            <a:pPr indent="0" marL="0">
              <a:buNone/>
            </a:pPr>
            <a:r>
              <a:rPr lang="en-US" sz="1700" dirty="0">
                <a:solidFill>
                  <a:schemeClr val="tx1"/>
                </a:solidFill>
              </a:rPr>
              <a:t>Follow-ups live in founders' heads and inboxes. Only about 1 in 6 happens on time, and USD 405k of deals has stalled.</a:t>
            </a:r>
            <a:endParaRPr lang="en-US" sz="1700" dirty="0"/>
          </a:p>
        </p:txBody>
      </p:sp>
      <p:sp>
        <p:nvSpPr>
          <p:cNvPr id="8" name="summary card Opportunity"/>
          <p:cNvSpPr/>
          <p:nvPr/>
        </p:nvSpPr>
        <p:spPr>
          <a:xfrm>
            <a:off x="3383280" y="1417320"/>
            <a:ext cx="2587752" cy="4206240"/>
          </a:xfrm>
          <a:prstGeom prst="roundRect">
            <a:avLst>
              <a:gd name="adj" fmla="val 2827"/>
            </a:avLst>
          </a:prstGeom>
          <a:solidFill>
            <a:schemeClr val="bg2"/>
          </a:solidFill>
          <a:ln w="12700">
            <a:solidFill>
              <a:schemeClr val="bg2"/>
            </a:solidFill>
            <a:prstDash val="solid"/>
          </a:ln>
        </p:spPr>
      </p:sp>
      <p:sp>
        <p:nvSpPr>
          <p:cNvPr id="9" name="summary Opportunity circle"/>
          <p:cNvSpPr/>
          <p:nvPr/>
        </p:nvSpPr>
        <p:spPr>
          <a:xfrm>
            <a:off x="3657600" y="1691640"/>
            <a:ext cx="731520" cy="731520"/>
          </a:xfrm>
          <a:prstGeom prst="ellipse">
            <a:avLst/>
          </a:prstGeom>
          <a:solidFill>
            <a:schemeClr val="accent1"/>
          </a:solidFill>
          <a:ln w="12700">
            <a:solidFill>
              <a:schemeClr val="accent1"/>
            </a:solidFill>
            <a:prstDash val="solid"/>
          </a:ln>
        </p:spPr>
      </p:sp>
      <p:pic>
        <p:nvPicPr>
          <p:cNvPr id="10" name="summary Opportunity icon" descr="preencoded.png">    </p:cNvPr>
          <p:cNvPicPr>
            <a:picLocks noChangeAspect="1"/>
          </p:cNvPicPr>
          <p:nvPr/>
        </p:nvPicPr>
        <p:blipFill>
          <a:blip r:embed="rId2"/>
          <a:stretch>
            <a:fillRect/>
          </a:stretch>
        </p:blipFill>
        <p:spPr>
          <a:xfrm>
            <a:off x="3840480" y="1874520"/>
            <a:ext cx="365760" cy="365760"/>
          </a:xfrm>
          <a:prstGeom prst="rect">
            <a:avLst/>
          </a:prstGeom>
        </p:spPr>
      </p:pic>
      <p:sp>
        <p:nvSpPr>
          <p:cNvPr id="11" name="summary Opportunity heading"/>
          <p:cNvSpPr txBox="1"/>
          <p:nvPr/>
        </p:nvSpPr>
        <p:spPr>
          <a:xfrm>
            <a:off x="3657600" y="265176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Opportunity</a:t>
            </a:r>
            <a:endParaRPr lang="en-US" sz="2200" dirty="0"/>
          </a:p>
        </p:txBody>
      </p:sp>
      <p:sp>
        <p:nvSpPr>
          <p:cNvPr id="12" name="summary Opportunity body"/>
          <p:cNvSpPr txBox="1"/>
          <p:nvPr/>
        </p:nvSpPr>
        <p:spPr>
          <a:xfrm>
            <a:off x="3657600" y="3200400"/>
            <a:ext cx="2103120" cy="2286000"/>
          </a:xfrm>
          <a:prstGeom prst="rect">
            <a:avLst/>
          </a:prstGeom>
          <a:noFill/>
          <a:ln/>
        </p:spPr>
        <p:txBody>
          <a:bodyPr wrap="square" lIns="0" tIns="0" rIns="0" bIns="0" rtlCol="0" anchor="t"/>
          <a:lstStyle/>
          <a:p>
            <a:pPr indent="0" marL="0">
              <a:buNone/>
            </a:pPr>
            <a:r>
              <a:rPr lang="en-US" sz="1700" dirty="0">
                <a:solidFill>
                  <a:schemeClr val="tx1"/>
                </a:solidFill>
              </a:rPr>
              <a:t>AtliQ already has the answers in its email and notes. AI can read them and turn them into dated, owned tasks.</a:t>
            </a:r>
            <a:endParaRPr lang="en-US" sz="1700" dirty="0"/>
          </a:p>
        </p:txBody>
      </p:sp>
      <p:sp>
        <p:nvSpPr>
          <p:cNvPr id="13" name="summary card Solution"/>
          <p:cNvSpPr/>
          <p:nvPr/>
        </p:nvSpPr>
        <p:spPr>
          <a:xfrm>
            <a:off x="6217920" y="1417320"/>
            <a:ext cx="2587752" cy="4206240"/>
          </a:xfrm>
          <a:prstGeom prst="roundRect">
            <a:avLst>
              <a:gd name="adj" fmla="val 2827"/>
            </a:avLst>
          </a:prstGeom>
          <a:solidFill>
            <a:schemeClr val="bg2"/>
          </a:solidFill>
          <a:ln w="12700">
            <a:solidFill>
              <a:schemeClr val="bg2"/>
            </a:solidFill>
            <a:prstDash val="solid"/>
          </a:ln>
        </p:spPr>
      </p:sp>
      <p:sp>
        <p:nvSpPr>
          <p:cNvPr id="14" name="summary Solution circle"/>
          <p:cNvSpPr/>
          <p:nvPr/>
        </p:nvSpPr>
        <p:spPr>
          <a:xfrm>
            <a:off x="6492240" y="1691640"/>
            <a:ext cx="731520" cy="731520"/>
          </a:xfrm>
          <a:prstGeom prst="ellipse">
            <a:avLst/>
          </a:prstGeom>
          <a:solidFill>
            <a:schemeClr val="accent4"/>
          </a:solidFill>
          <a:ln w="12700">
            <a:solidFill>
              <a:schemeClr val="accent4"/>
            </a:solidFill>
            <a:prstDash val="solid"/>
          </a:ln>
        </p:spPr>
      </p:sp>
      <p:pic>
        <p:nvPicPr>
          <p:cNvPr id="15" name="summary Solution icon" descr="preencoded.png">    </p:cNvPr>
          <p:cNvPicPr>
            <a:picLocks noChangeAspect="1"/>
          </p:cNvPicPr>
          <p:nvPr/>
        </p:nvPicPr>
        <p:blipFill>
          <a:blip r:embed="rId3"/>
          <a:stretch>
            <a:fillRect/>
          </a:stretch>
        </p:blipFill>
        <p:spPr>
          <a:xfrm>
            <a:off x="6675120" y="1874520"/>
            <a:ext cx="365760" cy="365760"/>
          </a:xfrm>
          <a:prstGeom prst="rect">
            <a:avLst/>
          </a:prstGeom>
        </p:spPr>
      </p:pic>
      <p:sp>
        <p:nvSpPr>
          <p:cNvPr id="16" name="summary Solution heading"/>
          <p:cNvSpPr txBox="1"/>
          <p:nvPr/>
        </p:nvSpPr>
        <p:spPr>
          <a:xfrm>
            <a:off x="6492240" y="265176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Solution</a:t>
            </a:r>
            <a:endParaRPr lang="en-US" sz="2200" dirty="0"/>
          </a:p>
        </p:txBody>
      </p:sp>
      <p:sp>
        <p:nvSpPr>
          <p:cNvPr id="17" name="summary Solution body"/>
          <p:cNvSpPr txBox="1"/>
          <p:nvPr/>
        </p:nvSpPr>
        <p:spPr>
          <a:xfrm>
            <a:off x="6492240" y="3200400"/>
            <a:ext cx="2103120" cy="2286000"/>
          </a:xfrm>
          <a:prstGeom prst="rect">
            <a:avLst/>
          </a:prstGeom>
          <a:noFill/>
          <a:ln/>
        </p:spPr>
        <p:txBody>
          <a:bodyPr wrap="square" lIns="0" tIns="0" rIns="0" bIns="0" rtlCol="0" anchor="t"/>
          <a:lstStyle/>
          <a:p>
            <a:pPr indent="0" marL="0">
              <a:buNone/>
            </a:pPr>
            <a:r>
              <a:rPr lang="en-US" sz="1700" dirty="0">
                <a:solidFill>
                  <a:schemeClr val="tx1"/>
                </a:solidFill>
              </a:rPr>
              <a:t>A daily brief of at most 7 items per person. Each item shows its source sentence and comes with a draft reply.</a:t>
            </a:r>
            <a:endParaRPr lang="en-US" sz="1700" dirty="0"/>
          </a:p>
        </p:txBody>
      </p:sp>
      <p:sp>
        <p:nvSpPr>
          <p:cNvPr id="18" name="summary card Result"/>
          <p:cNvSpPr/>
          <p:nvPr/>
        </p:nvSpPr>
        <p:spPr>
          <a:xfrm>
            <a:off x="9052560" y="1417320"/>
            <a:ext cx="2587752" cy="4206240"/>
          </a:xfrm>
          <a:prstGeom prst="roundRect">
            <a:avLst>
              <a:gd name="adj" fmla="val 2827"/>
            </a:avLst>
          </a:prstGeom>
          <a:solidFill>
            <a:schemeClr val="bg2"/>
          </a:solidFill>
          <a:ln w="12700">
            <a:solidFill>
              <a:schemeClr val="bg2"/>
            </a:solidFill>
            <a:prstDash val="solid"/>
          </a:ln>
        </p:spPr>
      </p:sp>
      <p:sp>
        <p:nvSpPr>
          <p:cNvPr id="19" name="summary Result circle"/>
          <p:cNvSpPr/>
          <p:nvPr/>
        </p:nvSpPr>
        <p:spPr>
          <a:xfrm>
            <a:off x="9326880" y="1691640"/>
            <a:ext cx="731520" cy="731520"/>
          </a:xfrm>
          <a:prstGeom prst="ellipse">
            <a:avLst/>
          </a:prstGeom>
          <a:solidFill>
            <a:schemeClr val="accent2"/>
          </a:solidFill>
          <a:ln w="12700">
            <a:solidFill>
              <a:schemeClr val="accent2"/>
            </a:solidFill>
            <a:prstDash val="solid"/>
          </a:ln>
        </p:spPr>
      </p:sp>
      <p:pic>
        <p:nvPicPr>
          <p:cNvPr id="20" name="summary Result icon" descr="preencoded.png">    </p:cNvPr>
          <p:cNvPicPr>
            <a:picLocks noChangeAspect="1"/>
          </p:cNvPicPr>
          <p:nvPr/>
        </p:nvPicPr>
        <p:blipFill>
          <a:blip r:embed="rId4"/>
          <a:stretch>
            <a:fillRect/>
          </a:stretch>
        </p:blipFill>
        <p:spPr>
          <a:xfrm>
            <a:off x="9509760" y="1874520"/>
            <a:ext cx="365760" cy="365760"/>
          </a:xfrm>
          <a:prstGeom prst="rect">
            <a:avLst/>
          </a:prstGeom>
        </p:spPr>
      </p:pic>
      <p:sp>
        <p:nvSpPr>
          <p:cNvPr id="21" name="summary Result heading"/>
          <p:cNvSpPr txBox="1"/>
          <p:nvPr/>
        </p:nvSpPr>
        <p:spPr>
          <a:xfrm>
            <a:off x="9326880" y="2651760"/>
            <a:ext cx="2103120" cy="45720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Result</a:t>
            </a:r>
            <a:endParaRPr lang="en-US" sz="2200" dirty="0"/>
          </a:p>
        </p:txBody>
      </p:sp>
      <p:sp>
        <p:nvSpPr>
          <p:cNvPr id="22" name="summary Result body"/>
          <p:cNvSpPr txBox="1"/>
          <p:nvPr/>
        </p:nvSpPr>
        <p:spPr>
          <a:xfrm>
            <a:off x="9326880" y="3200400"/>
            <a:ext cx="2103120" cy="2286000"/>
          </a:xfrm>
          <a:prstGeom prst="rect">
            <a:avLst/>
          </a:prstGeom>
          <a:noFill/>
          <a:ln/>
        </p:spPr>
        <p:txBody>
          <a:bodyPr wrap="square" lIns="0" tIns="0" rIns="0" bIns="0" rtlCol="0" anchor="t"/>
          <a:lstStyle/>
          <a:p>
            <a:pPr indent="0" marL="0">
              <a:buNone/>
            </a:pPr>
            <a:r>
              <a:rPr lang="en-US" sz="1700" dirty="0">
                <a:solidFill>
                  <a:schemeClr val="tx1"/>
                </a:solidFill>
              </a:rPr>
              <a:t>A working prototype with 12 of 12 checks passing. It costs about USD 455 a month to run, and AI is only USD 6.5 of that.</a:t>
            </a:r>
            <a:endParaRPr lang="en-US" sz="17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Leads and promises are leaking out of the pipeline</a:t>
            </a:r>
            <a:endParaRPr lang="en-US" sz="3600" dirty="0"/>
          </a:p>
        </p:txBody>
      </p:sp>
      <p:sp>
        <p:nvSpPr>
          <p:cNvPr id="3" name="stat card 1"/>
          <p:cNvSpPr/>
          <p:nvPr/>
        </p:nvSpPr>
        <p:spPr>
          <a:xfrm>
            <a:off x="548640" y="1371600"/>
            <a:ext cx="5440680" cy="2103120"/>
          </a:xfrm>
          <a:prstGeom prst="roundRect">
            <a:avLst>
              <a:gd name="adj" fmla="val 3478"/>
            </a:avLst>
          </a:prstGeom>
          <a:solidFill>
            <a:schemeClr val="bg2"/>
          </a:solidFill>
          <a:ln w="12700">
            <a:solidFill>
              <a:schemeClr val="bg2"/>
            </a:solidFill>
            <a:prstDash val="solid"/>
          </a:ln>
        </p:spPr>
      </p:sp>
      <p:sp>
        <p:nvSpPr>
          <p:cNvPr id="4" name="stat 1 circle"/>
          <p:cNvSpPr/>
          <p:nvPr/>
        </p:nvSpPr>
        <p:spPr>
          <a:xfrm>
            <a:off x="868680" y="1691640"/>
            <a:ext cx="822960" cy="822960"/>
          </a:xfrm>
          <a:prstGeom prst="ellipse">
            <a:avLst/>
          </a:prstGeom>
          <a:solidFill>
            <a:schemeClr val="accent3"/>
          </a:solidFill>
          <a:ln w="12700">
            <a:solidFill>
              <a:schemeClr val="accent3"/>
            </a:solidFill>
            <a:prstDash val="solid"/>
          </a:ln>
        </p:spPr>
      </p:sp>
      <p:pic>
        <p:nvPicPr>
          <p:cNvPr id="5" name="stat 1 icon" descr="preencoded.png">    </p:cNvPr>
          <p:cNvPicPr>
            <a:picLocks noChangeAspect="1"/>
          </p:cNvPicPr>
          <p:nvPr/>
        </p:nvPicPr>
        <p:blipFill>
          <a:blip r:embed="rId1"/>
          <a:stretch>
            <a:fillRect/>
          </a:stretch>
        </p:blipFill>
        <p:spPr>
          <a:xfrm>
            <a:off x="1074420" y="1897380"/>
            <a:ext cx="411480" cy="411480"/>
          </a:xfrm>
          <a:prstGeom prst="rect">
            <a:avLst/>
          </a:prstGeom>
        </p:spPr>
      </p:pic>
      <p:sp>
        <p:nvSpPr>
          <p:cNvPr id="6" name="stat 1 number"/>
          <p:cNvSpPr txBox="1"/>
          <p:nvPr/>
        </p:nvSpPr>
        <p:spPr>
          <a:xfrm>
            <a:off x="1920240" y="1645920"/>
            <a:ext cx="3840480" cy="86868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0 of 40</a:t>
            </a:r>
            <a:endParaRPr lang="en-US" sz="4400" dirty="0"/>
          </a:p>
        </p:txBody>
      </p:sp>
      <p:sp>
        <p:nvSpPr>
          <p:cNvPr id="7" name="stat 1 label"/>
          <p:cNvSpPr txBox="1"/>
          <p:nvPr/>
        </p:nvSpPr>
        <p:spPr>
          <a:xfrm>
            <a:off x="1920240" y="2560320"/>
            <a:ext cx="3840480" cy="777240"/>
          </a:xfrm>
          <a:prstGeom prst="rect">
            <a:avLst/>
          </a:prstGeom>
          <a:noFill/>
          <a:ln/>
        </p:spPr>
        <p:txBody>
          <a:bodyPr wrap="square" lIns="0" tIns="0" rIns="0" bIns="0" rtlCol="0" anchor="t"/>
          <a:lstStyle/>
          <a:p>
            <a:pPr indent="0" marL="0">
              <a:buNone/>
            </a:pPr>
            <a:r>
              <a:rPr lang="en-US" sz="1500" dirty="0">
                <a:solidFill>
                  <a:schemeClr val="tx1"/>
                </a:solidFill>
              </a:rPr>
              <a:t>CRM records have a follow-up date, so nobody is reminded of anything</a:t>
            </a:r>
            <a:endParaRPr lang="en-US" sz="1500" dirty="0"/>
          </a:p>
        </p:txBody>
      </p:sp>
      <p:sp>
        <p:nvSpPr>
          <p:cNvPr id="8" name="stat card 2"/>
          <p:cNvSpPr/>
          <p:nvPr/>
        </p:nvSpPr>
        <p:spPr>
          <a:xfrm>
            <a:off x="6172200" y="1371600"/>
            <a:ext cx="5440680" cy="2103120"/>
          </a:xfrm>
          <a:prstGeom prst="roundRect">
            <a:avLst>
              <a:gd name="adj" fmla="val 3478"/>
            </a:avLst>
          </a:prstGeom>
          <a:solidFill>
            <a:schemeClr val="bg2"/>
          </a:solidFill>
          <a:ln w="12700">
            <a:solidFill>
              <a:schemeClr val="bg2"/>
            </a:solidFill>
            <a:prstDash val="solid"/>
          </a:ln>
        </p:spPr>
      </p:sp>
      <p:sp>
        <p:nvSpPr>
          <p:cNvPr id="9" name="stat 2 circle"/>
          <p:cNvSpPr/>
          <p:nvPr/>
        </p:nvSpPr>
        <p:spPr>
          <a:xfrm>
            <a:off x="6492240" y="1691640"/>
            <a:ext cx="822960" cy="822960"/>
          </a:xfrm>
          <a:prstGeom prst="ellipse">
            <a:avLst/>
          </a:prstGeom>
          <a:solidFill>
            <a:schemeClr val="accent1"/>
          </a:solidFill>
          <a:ln w="12700">
            <a:solidFill>
              <a:schemeClr val="accent1"/>
            </a:solidFill>
            <a:prstDash val="solid"/>
          </a:ln>
        </p:spPr>
      </p:sp>
      <p:pic>
        <p:nvPicPr>
          <p:cNvPr id="10" name="stat 2 icon" descr="preencoded.png">    </p:cNvPr>
          <p:cNvPicPr>
            <a:picLocks noChangeAspect="1"/>
          </p:cNvPicPr>
          <p:nvPr/>
        </p:nvPicPr>
        <p:blipFill>
          <a:blip r:embed="rId2"/>
          <a:stretch>
            <a:fillRect/>
          </a:stretch>
        </p:blipFill>
        <p:spPr>
          <a:xfrm>
            <a:off x="6697980" y="1897380"/>
            <a:ext cx="411480" cy="411480"/>
          </a:xfrm>
          <a:prstGeom prst="rect">
            <a:avLst/>
          </a:prstGeom>
        </p:spPr>
      </p:pic>
      <p:sp>
        <p:nvSpPr>
          <p:cNvPr id="11" name="stat 2 number"/>
          <p:cNvSpPr txBox="1"/>
          <p:nvPr/>
        </p:nvSpPr>
        <p:spPr>
          <a:xfrm>
            <a:off x="7543800" y="1645920"/>
            <a:ext cx="3840480" cy="86868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USD 405k</a:t>
            </a:r>
            <a:endParaRPr lang="en-US" sz="4400" dirty="0"/>
          </a:p>
        </p:txBody>
      </p:sp>
      <p:sp>
        <p:nvSpPr>
          <p:cNvPr id="12" name="stat 2 label"/>
          <p:cNvSpPr txBox="1"/>
          <p:nvPr/>
        </p:nvSpPr>
        <p:spPr>
          <a:xfrm>
            <a:off x="7543800" y="2560320"/>
            <a:ext cx="3840480" cy="777240"/>
          </a:xfrm>
          <a:prstGeom prst="rect">
            <a:avLst/>
          </a:prstGeom>
          <a:noFill/>
          <a:ln/>
        </p:spPr>
        <p:txBody>
          <a:bodyPr wrap="square" lIns="0" tIns="0" rIns="0" bIns="0" rtlCol="0" anchor="t"/>
          <a:lstStyle/>
          <a:p>
            <a:pPr indent="0" marL="0">
              <a:buNone/>
            </a:pPr>
            <a:r>
              <a:rPr lang="en-US" sz="1500" dirty="0">
                <a:solidFill>
                  <a:schemeClr val="tx1"/>
                </a:solidFill>
              </a:rPr>
              <a:t>sits in 7 valued deals that have stalled or been forgotten</a:t>
            </a:r>
            <a:endParaRPr lang="en-US" sz="1500" dirty="0"/>
          </a:p>
        </p:txBody>
      </p:sp>
      <p:sp>
        <p:nvSpPr>
          <p:cNvPr id="13" name="stat card 3"/>
          <p:cNvSpPr/>
          <p:nvPr/>
        </p:nvSpPr>
        <p:spPr>
          <a:xfrm>
            <a:off x="548640" y="3703320"/>
            <a:ext cx="5440680" cy="2103120"/>
          </a:xfrm>
          <a:prstGeom prst="roundRect">
            <a:avLst>
              <a:gd name="adj" fmla="val 3478"/>
            </a:avLst>
          </a:prstGeom>
          <a:solidFill>
            <a:schemeClr val="bg2"/>
          </a:solidFill>
          <a:ln w="12700">
            <a:solidFill>
              <a:schemeClr val="bg2"/>
            </a:solidFill>
            <a:prstDash val="solid"/>
          </a:ln>
        </p:spPr>
      </p:sp>
      <p:sp>
        <p:nvSpPr>
          <p:cNvPr id="14" name="stat 3 circle"/>
          <p:cNvSpPr/>
          <p:nvPr/>
        </p:nvSpPr>
        <p:spPr>
          <a:xfrm>
            <a:off x="868680" y="4023360"/>
            <a:ext cx="822960" cy="822960"/>
          </a:xfrm>
          <a:prstGeom prst="ellipse">
            <a:avLst/>
          </a:prstGeom>
          <a:solidFill>
            <a:schemeClr val="accent4"/>
          </a:solidFill>
          <a:ln w="12700">
            <a:solidFill>
              <a:schemeClr val="accent4"/>
            </a:solidFill>
            <a:prstDash val="solid"/>
          </a:ln>
        </p:spPr>
      </p:sp>
      <p:pic>
        <p:nvPicPr>
          <p:cNvPr id="15" name="stat 3 icon" descr="preencoded.png">    </p:cNvPr>
          <p:cNvPicPr>
            <a:picLocks noChangeAspect="1"/>
          </p:cNvPicPr>
          <p:nvPr/>
        </p:nvPicPr>
        <p:blipFill>
          <a:blip r:embed="rId3"/>
          <a:stretch>
            <a:fillRect/>
          </a:stretch>
        </p:blipFill>
        <p:spPr>
          <a:xfrm>
            <a:off x="1074420" y="4229100"/>
            <a:ext cx="411480" cy="411480"/>
          </a:xfrm>
          <a:prstGeom prst="rect">
            <a:avLst/>
          </a:prstGeom>
        </p:spPr>
      </p:pic>
      <p:sp>
        <p:nvSpPr>
          <p:cNvPr id="16" name="stat 3 number"/>
          <p:cNvSpPr txBox="1"/>
          <p:nvPr/>
        </p:nvSpPr>
        <p:spPr>
          <a:xfrm>
            <a:off x="1920240" y="3977640"/>
            <a:ext cx="3840480" cy="86868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21 days</a:t>
            </a:r>
            <a:endParaRPr lang="en-US" sz="4400" dirty="0"/>
          </a:p>
        </p:txBody>
      </p:sp>
      <p:sp>
        <p:nvSpPr>
          <p:cNvPr id="17" name="stat 3 label"/>
          <p:cNvSpPr txBox="1"/>
          <p:nvPr/>
        </p:nvSpPr>
        <p:spPr>
          <a:xfrm>
            <a:off x="1920240" y="4892040"/>
            <a:ext cx="3840480" cy="777240"/>
          </a:xfrm>
          <a:prstGeom prst="rect">
            <a:avLst/>
          </a:prstGeom>
          <a:noFill/>
          <a:ln/>
        </p:spPr>
        <p:txBody>
          <a:bodyPr wrap="square" lIns="0" tIns="0" rIns="0" bIns="0" rtlCol="0" anchor="t"/>
          <a:lstStyle/>
          <a:p>
            <a:pPr indent="0" marL="0">
              <a:buNone/>
            </a:pPr>
            <a:r>
              <a:rPr lang="en-US" sz="1500" dirty="0">
                <a:solidFill>
                  <a:schemeClr val="tx1"/>
                </a:solidFill>
              </a:rPr>
              <a:t>FinEdge, the biggest deal at USD 95k, waited for a reply to its email</a:t>
            </a:r>
            <a:endParaRPr lang="en-US" sz="1500" dirty="0"/>
          </a:p>
        </p:txBody>
      </p:sp>
      <p:sp>
        <p:nvSpPr>
          <p:cNvPr id="18" name="stat card 4"/>
          <p:cNvSpPr/>
          <p:nvPr/>
        </p:nvSpPr>
        <p:spPr>
          <a:xfrm>
            <a:off x="6172200" y="3703320"/>
            <a:ext cx="5440680" cy="2103120"/>
          </a:xfrm>
          <a:prstGeom prst="roundRect">
            <a:avLst>
              <a:gd name="adj" fmla="val 3478"/>
            </a:avLst>
          </a:prstGeom>
          <a:solidFill>
            <a:schemeClr val="bg2"/>
          </a:solidFill>
          <a:ln w="12700">
            <a:solidFill>
              <a:schemeClr val="bg2"/>
            </a:solidFill>
            <a:prstDash val="solid"/>
          </a:ln>
        </p:spPr>
      </p:sp>
      <p:sp>
        <p:nvSpPr>
          <p:cNvPr id="19" name="stat 4 circle"/>
          <p:cNvSpPr/>
          <p:nvPr/>
        </p:nvSpPr>
        <p:spPr>
          <a:xfrm>
            <a:off x="6492240" y="4023360"/>
            <a:ext cx="822960" cy="822960"/>
          </a:xfrm>
          <a:prstGeom prst="ellipse">
            <a:avLst/>
          </a:prstGeom>
          <a:solidFill>
            <a:schemeClr val="accent2"/>
          </a:solidFill>
          <a:ln w="12700">
            <a:solidFill>
              <a:schemeClr val="accent2"/>
            </a:solidFill>
            <a:prstDash val="solid"/>
          </a:ln>
        </p:spPr>
      </p:sp>
      <p:pic>
        <p:nvPicPr>
          <p:cNvPr id="20" name="stat 4 icon" descr="preencoded.png">    </p:cNvPr>
          <p:cNvPicPr>
            <a:picLocks noChangeAspect="1"/>
          </p:cNvPicPr>
          <p:nvPr/>
        </p:nvPicPr>
        <p:blipFill>
          <a:blip r:embed="rId4"/>
          <a:stretch>
            <a:fillRect/>
          </a:stretch>
        </p:blipFill>
        <p:spPr>
          <a:xfrm>
            <a:off x="6697980" y="4229100"/>
            <a:ext cx="411480" cy="411480"/>
          </a:xfrm>
          <a:prstGeom prst="rect">
            <a:avLst/>
          </a:prstGeom>
        </p:spPr>
      </p:pic>
      <p:sp>
        <p:nvSpPr>
          <p:cNvPr id="21" name="stat 4 number"/>
          <p:cNvSpPr txBox="1"/>
          <p:nvPr/>
        </p:nvSpPr>
        <p:spPr>
          <a:xfrm>
            <a:off x="7543800" y="3977640"/>
            <a:ext cx="3840480" cy="868680"/>
          </a:xfrm>
          <a:prstGeom prst="rect">
            <a:avLst/>
          </a:prstGeom>
          <a:noFill/>
          <a:ln/>
        </p:spPr>
        <p:txBody>
          <a:bodyPr wrap="square" lIns="0" tIns="0" rIns="0" bIns="0" rtlCol="0" anchor="ctr"/>
          <a:lstStyle/>
          <a:p>
            <a:pPr indent="0" marL="0">
              <a:buNone/>
            </a:pPr>
            <a:r>
              <a:rPr lang="en-US" sz="4400" b="1" dirty="0">
                <a:solidFill>
                  <a:schemeClr val="tx2"/>
                </a:solidFill>
                <a:latin typeface="Cambria" pitchFamily="34" charset="0"/>
                <a:ea typeface="Cambria" pitchFamily="34" charset="-122"/>
                <a:cs typeface="Cambria" pitchFamily="34" charset="-120"/>
              </a:rPr>
              <a:t>4 leads</a:t>
            </a:r>
            <a:endParaRPr lang="en-US" sz="4400" dirty="0"/>
          </a:p>
        </p:txBody>
      </p:sp>
      <p:sp>
        <p:nvSpPr>
          <p:cNvPr id="22" name="stat 4 label"/>
          <p:cNvSpPr txBox="1"/>
          <p:nvPr/>
        </p:nvSpPr>
        <p:spPr>
          <a:xfrm>
            <a:off x="7543800" y="4892040"/>
            <a:ext cx="3840480" cy="777240"/>
          </a:xfrm>
          <a:prstGeom prst="rect">
            <a:avLst/>
          </a:prstGeom>
          <a:noFill/>
          <a:ln/>
        </p:spPr>
        <p:txBody>
          <a:bodyPr wrap="square" lIns="0" tIns="0" rIns="0" bIns="0" rtlCol="0" anchor="t"/>
          <a:lstStyle/>
          <a:p>
            <a:pPr indent="0" marL="0">
              <a:buNone/>
            </a:pPr>
            <a:r>
              <a:rPr lang="en-US" sz="1500" dirty="0">
                <a:solidFill>
                  <a:schemeClr val="tx1"/>
                </a:solidFill>
              </a:rPr>
              <a:t>wrote in (Harbor &amp; Finch, Nimbus, Lumino, PixelWorks) and never reached the CRM</a:t>
            </a:r>
            <a:endParaRPr lang="en-US" sz="1500" dirty="0"/>
          </a:p>
        </p:txBody>
      </p:sp>
      <p:sp>
        <p:nvSpPr>
          <p:cNvPr id="23" name="source note"/>
          <p:cNvSpPr txBox="1"/>
          <p:nvPr/>
        </p:nvSpPr>
        <p:spPr>
          <a:xfrm>
            <a:off x="548640" y="6035040"/>
            <a:ext cx="10972800" cy="274320"/>
          </a:xfrm>
          <a:prstGeom prst="rect">
            <a:avLst/>
          </a:prstGeom>
          <a:noFill/>
          <a:ln/>
        </p:spPr>
        <p:txBody>
          <a:bodyPr wrap="square" lIns="0" tIns="0" rIns="0" bIns="0" rtlCol="0" anchor="t"/>
          <a:lstStyle/>
          <a:p>
            <a:pPr indent="0" marL="0">
              <a:buNone/>
            </a:pPr>
            <a:r>
              <a:rPr lang="en-US" sz="1100" dirty="0">
                <a:solidFill>
                  <a:schemeClr val="accent5"/>
                </a:solidFill>
              </a:rPr>
              <a:t>Source: the provided CRM export (40 records) and 50 emails and meeting notes. Dataset date: Friday 10 July 2026.</a:t>
            </a:r>
            <a:endParaRPr lang="en-US" sz="11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Who we built for: the founder-seller</a:t>
            </a:r>
            <a:endParaRPr lang="en-US" sz="3600" dirty="0"/>
          </a:p>
        </p:txBody>
      </p:sp>
      <p:sp>
        <p:nvSpPr>
          <p:cNvPr id="3" name="persona card"/>
          <p:cNvSpPr/>
          <p:nvPr/>
        </p:nvSpPr>
        <p:spPr>
          <a:xfrm>
            <a:off x="548640" y="1371600"/>
            <a:ext cx="3291840" cy="4754880"/>
          </a:xfrm>
          <a:prstGeom prst="roundRect">
            <a:avLst>
              <a:gd name="adj" fmla="val 2222"/>
            </a:avLst>
          </a:prstGeom>
          <a:solidFill>
            <a:schemeClr val="tx2"/>
          </a:solidFill>
          <a:ln w="12700">
            <a:solidFill>
              <a:schemeClr val="tx2"/>
            </a:solidFill>
            <a:prstDash val="solid"/>
          </a:ln>
        </p:spPr>
      </p:sp>
      <p:sp>
        <p:nvSpPr>
          <p:cNvPr id="4" name="persona avatar circle"/>
          <p:cNvSpPr/>
          <p:nvPr/>
        </p:nvSpPr>
        <p:spPr>
          <a:xfrm>
            <a:off x="1508760" y="1691640"/>
            <a:ext cx="1371600" cy="1371600"/>
          </a:xfrm>
          <a:prstGeom prst="ellipse">
            <a:avLst/>
          </a:prstGeom>
          <a:solidFill>
            <a:schemeClr val="bg1"/>
          </a:solidFill>
          <a:ln w="12700">
            <a:solidFill>
              <a:schemeClr val="bg1"/>
            </a:solidFill>
            <a:prstDash val="solid"/>
          </a:ln>
        </p:spPr>
      </p:sp>
      <p:pic>
        <p:nvPicPr>
          <p:cNvPr id="5" name="persona avatar" descr="preencoded.png">    </p:cNvPr>
          <p:cNvPicPr>
            <a:picLocks noChangeAspect="1"/>
          </p:cNvPicPr>
          <p:nvPr/>
        </p:nvPicPr>
        <p:blipFill>
          <a:blip r:embed="rId1"/>
          <a:stretch>
            <a:fillRect/>
          </a:stretch>
        </p:blipFill>
        <p:spPr>
          <a:xfrm>
            <a:off x="1783080" y="1965960"/>
            <a:ext cx="822960" cy="822960"/>
          </a:xfrm>
          <a:prstGeom prst="rect">
            <a:avLst/>
          </a:prstGeom>
        </p:spPr>
      </p:pic>
      <p:sp>
        <p:nvSpPr>
          <p:cNvPr id="6" name="persona names"/>
          <p:cNvSpPr txBox="1"/>
          <p:nvPr/>
        </p:nvSpPr>
        <p:spPr>
          <a:xfrm>
            <a:off x="777240" y="3291840"/>
            <a:ext cx="2834640" cy="411480"/>
          </a:xfrm>
          <a:prstGeom prst="rect">
            <a:avLst/>
          </a:prstGeom>
          <a:noFill/>
          <a:ln/>
        </p:spPr>
        <p:txBody>
          <a:bodyPr wrap="square" lIns="0" tIns="0" rIns="0" bIns="0" rtlCol="0" anchor="t"/>
          <a:lstStyle/>
          <a:p>
            <a:pPr algn="ctr" indent="0" marL="0">
              <a:buNone/>
            </a:pPr>
            <a:r>
              <a:rPr lang="en-US" sz="1800" b="1" dirty="0">
                <a:solidFill>
                  <a:schemeClr val="bg1"/>
                </a:solidFill>
              </a:rPr>
              <a:t>Bhavin, Dhaval, Karandeep</a:t>
            </a:r>
            <a:endParaRPr lang="en-US" sz="1800" dirty="0"/>
          </a:p>
        </p:txBody>
      </p:sp>
      <p:sp>
        <p:nvSpPr>
          <p:cNvPr id="7" name="persona role"/>
          <p:cNvSpPr txBox="1"/>
          <p:nvPr/>
        </p:nvSpPr>
        <p:spPr>
          <a:xfrm>
            <a:off x="777240" y="3749040"/>
            <a:ext cx="2834640" cy="1005840"/>
          </a:xfrm>
          <a:prstGeom prst="rect">
            <a:avLst/>
          </a:prstGeom>
          <a:noFill/>
          <a:ln/>
        </p:spPr>
        <p:txBody>
          <a:bodyPr wrap="square" lIns="0" tIns="0" rIns="0" bIns="0" rtlCol="0" anchor="t"/>
          <a:lstStyle/>
          <a:p>
            <a:pPr algn="ctr" indent="0" marL="0">
              <a:buNone/>
            </a:pPr>
            <a:r>
              <a:rPr lang="en-US" sz="1400" dirty="0">
                <a:solidFill>
                  <a:schemeClr val="bg2"/>
                </a:solidFill>
              </a:rPr>
              <a:t>Founders who sell, deliver and run the company. Jay supports sales and keeps the CRM.</a:t>
            </a:r>
            <a:endParaRPr lang="en-US" sz="1400" dirty="0"/>
          </a:p>
        </p:txBody>
      </p:sp>
      <p:sp>
        <p:nvSpPr>
          <p:cNvPr id="8" name="persona quote"/>
          <p:cNvSpPr txBox="1"/>
          <p:nvPr/>
        </p:nvSpPr>
        <p:spPr>
          <a:xfrm>
            <a:off x="777240" y="4937760"/>
            <a:ext cx="2834640" cy="731520"/>
          </a:xfrm>
          <a:prstGeom prst="rect">
            <a:avLst/>
          </a:prstGeom>
          <a:noFill/>
          <a:ln/>
        </p:spPr>
        <p:txBody>
          <a:bodyPr wrap="square" lIns="0" tIns="0" rIns="0" bIns="0" rtlCol="0" anchor="t"/>
          <a:lstStyle/>
          <a:p>
            <a:pPr algn="ctr" indent="0" marL="0">
              <a:buNone/>
            </a:pPr>
            <a:r>
              <a:rPr lang="en-US" sz="1600" i="1" dirty="0">
                <a:solidFill>
                  <a:schemeClr val="accent1"/>
                </a:solidFill>
              </a:rPr>
              <a:t>“We find out what's urgent by accident.”</a:t>
            </a:r>
            <a:endParaRPr lang="en-US" sz="1600" dirty="0"/>
          </a:p>
        </p:txBody>
      </p:sp>
      <p:sp>
        <p:nvSpPr>
          <p:cNvPr id="9" name="persona Goals heading"/>
          <p:cNvSpPr txBox="1"/>
          <p:nvPr/>
        </p:nvSpPr>
        <p:spPr>
          <a:xfrm>
            <a:off x="4160520" y="1417320"/>
            <a:ext cx="233172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Goals</a:t>
            </a:r>
            <a:endParaRPr lang="en-US" sz="2000" dirty="0"/>
          </a:p>
        </p:txBody>
      </p:sp>
      <p:sp>
        <p:nvSpPr>
          <p:cNvPr id="10" name="persona Goals list"/>
          <p:cNvSpPr txBox="1"/>
          <p:nvPr/>
        </p:nvSpPr>
        <p:spPr>
          <a:xfrm>
            <a:off x="4160520" y="1965960"/>
            <a:ext cx="2331720" cy="41148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Close the right deals fast, without letting a warm lead go cold</a:t>
            </a:r>
            <a:endParaRPr lang="en-US" sz="1400" dirty="0"/>
          </a:p>
          <a:p>
            <a:pPr marL="177800" indent="-177800">
              <a:spcAft>
                <a:spcPts val="1000"/>
              </a:spcAft>
              <a:buSzPct val="100000"/>
              <a:buChar char="•"/>
            </a:pPr>
            <a:r>
              <a:rPr lang="en-US" sz="1400" dirty="0">
                <a:solidFill>
                  <a:schemeClr val="tx1"/>
                </a:solidFill>
              </a:rPr>
              <a:t>Grow revenue from happy clients</a:t>
            </a:r>
            <a:endParaRPr lang="en-US" sz="1400" dirty="0"/>
          </a:p>
          <a:p>
            <a:pPr marL="177800" indent="-177800">
              <a:spcAft>
                <a:spcPts val="1000"/>
              </a:spcAft>
              <a:buSzPct val="100000"/>
              <a:buChar char="•"/>
            </a:pPr>
            <a:r>
              <a:rPr lang="en-US" sz="1400" dirty="0">
                <a:solidFill>
                  <a:schemeClr val="tx1"/>
                </a:solidFill>
              </a:rPr>
              <a:t>Spend less time on CRM admin</a:t>
            </a:r>
            <a:endParaRPr lang="en-US" sz="1400" dirty="0"/>
          </a:p>
        </p:txBody>
      </p:sp>
      <p:sp>
        <p:nvSpPr>
          <p:cNvPr id="11" name="persona Pains heading"/>
          <p:cNvSpPr txBox="1"/>
          <p:nvPr/>
        </p:nvSpPr>
        <p:spPr>
          <a:xfrm>
            <a:off x="6675120" y="1417320"/>
            <a:ext cx="233172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Pains</a:t>
            </a:r>
            <a:endParaRPr lang="en-US" sz="2000" dirty="0"/>
          </a:p>
        </p:txBody>
      </p:sp>
      <p:sp>
        <p:nvSpPr>
          <p:cNvPr id="12" name="persona Pains list"/>
          <p:cNvSpPr txBox="1"/>
          <p:nvPr/>
        </p:nvSpPr>
        <p:spPr>
          <a:xfrm>
            <a:off x="6675120" y="1965960"/>
            <a:ext cx="2331720" cy="41148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Calls and replies happen on the phone and never reach the CRM</a:t>
            </a:r>
            <a:endParaRPr lang="en-US" sz="1400" dirty="0"/>
          </a:p>
          <a:p>
            <a:pPr marL="177800" indent="-177800">
              <a:spcAft>
                <a:spcPts val="1000"/>
              </a:spcAft>
              <a:buSzPct val="100000"/>
              <a:buChar char="•"/>
            </a:pPr>
            <a:r>
              <a:rPr lang="en-US" sz="1400" dirty="0">
                <a:solidFill>
                  <a:schemeClr val="tx1"/>
                </a:solidFill>
              </a:rPr>
              <a:t>Promises slip: ByteBridge case studies are 56 days late</a:t>
            </a:r>
            <a:endParaRPr lang="en-US" sz="1400" dirty="0"/>
          </a:p>
          <a:p>
            <a:pPr marL="177800" indent="-177800">
              <a:spcAft>
                <a:spcPts val="1000"/>
              </a:spcAft>
              <a:buSzPct val="100000"/>
              <a:buChar char="•"/>
            </a:pPr>
            <a:r>
              <a:rPr lang="en-US" sz="1400" dirty="0">
                <a:solidFill>
                  <a:schemeClr val="tx1"/>
                </a:solidFill>
              </a:rPr>
              <a:t>Jay spends about 2 hours rebuilding the CRM before each review</a:t>
            </a:r>
            <a:endParaRPr lang="en-US" sz="1400" dirty="0"/>
          </a:p>
        </p:txBody>
      </p:sp>
      <p:sp>
        <p:nvSpPr>
          <p:cNvPr id="13" name="persona Success looks like heading"/>
          <p:cNvSpPr txBox="1"/>
          <p:nvPr/>
        </p:nvSpPr>
        <p:spPr>
          <a:xfrm>
            <a:off x="9189720" y="1417320"/>
            <a:ext cx="233172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Success looks like</a:t>
            </a:r>
            <a:endParaRPr lang="en-US" sz="2000" dirty="0"/>
          </a:p>
        </p:txBody>
      </p:sp>
      <p:sp>
        <p:nvSpPr>
          <p:cNvPr id="14" name="persona Success looks like list"/>
          <p:cNvSpPr txBox="1"/>
          <p:nvPr/>
        </p:nvSpPr>
        <p:spPr>
          <a:xfrm>
            <a:off x="9189720" y="1965960"/>
            <a:ext cx="2331720" cy="4114800"/>
          </a:xfrm>
          <a:prstGeom prst="rect">
            <a:avLst/>
          </a:prstGeom>
          <a:noFill/>
          <a:ln/>
        </p:spPr>
        <p:txBody>
          <a:bodyPr wrap="square" lIns="0" tIns="0" rIns="0" bIns="0" rtlCol="0" anchor="t"/>
          <a:lstStyle/>
          <a:p>
            <a:pPr marL="177800" indent="-177800">
              <a:spcAft>
                <a:spcPts val="1000"/>
              </a:spcAft>
              <a:buSzPct val="100000"/>
              <a:buChar char="•"/>
            </a:pPr>
            <a:r>
              <a:rPr lang="en-US" sz="1400" dirty="0">
                <a:solidFill>
                  <a:schemeClr val="tx1"/>
                </a:solidFill>
              </a:rPr>
              <a:t>Every open deal has a next step, a date and an owner</a:t>
            </a:r>
            <a:endParaRPr lang="en-US" sz="1400" dirty="0"/>
          </a:p>
          <a:p>
            <a:pPr marL="177800" indent="-177800">
              <a:spcAft>
                <a:spcPts val="1000"/>
              </a:spcAft>
              <a:buSzPct val="100000"/>
              <a:buChar char="•"/>
            </a:pPr>
            <a:r>
              <a:rPr lang="en-US" sz="1400" dirty="0">
                <a:solidFill>
                  <a:schemeClr val="tx1"/>
                </a:solidFill>
              </a:rPr>
              <a:t>Clients get a reply within 2 working days</a:t>
            </a:r>
            <a:endParaRPr lang="en-US" sz="1400" dirty="0"/>
          </a:p>
          <a:p>
            <a:pPr marL="177800" indent="-177800">
              <a:spcAft>
                <a:spcPts val="1000"/>
              </a:spcAft>
              <a:buSzPct val="100000"/>
              <a:buChar char="•"/>
            </a:pPr>
            <a:r>
              <a:rPr lang="en-US" sz="1400" dirty="0">
                <a:solidFill>
                  <a:schemeClr val="tx1"/>
                </a:solidFill>
              </a:rPr>
              <a:t>Every new lead is in the CRM within 24 hours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Discovery: the pipeline leaks at seven points</a:t>
            </a:r>
            <a:endParaRPr lang="en-US" sz="3600" dirty="0"/>
          </a:p>
        </p:txBody>
      </p:sp>
      <p:sp>
        <p:nvSpPr>
          <p:cNvPr id="3" name="flow line"/>
          <p:cNvSpPr/>
          <p:nvPr/>
        </p:nvSpPr>
        <p:spPr>
          <a:xfrm>
            <a:off x="1280160" y="1874520"/>
            <a:ext cx="9628632" cy="0"/>
          </a:xfrm>
          <a:prstGeom prst="line">
            <a:avLst/>
          </a:prstGeom>
          <a:noFill/>
          <a:ln w="19050">
            <a:solidFill>
              <a:schemeClr val="accent5"/>
            </a:solidFill>
            <a:prstDash val="solid"/>
          </a:ln>
        </p:spPr>
      </p:sp>
      <p:sp>
        <p:nvSpPr>
          <p:cNvPr id="4" name="leak 1 circle"/>
          <p:cNvSpPr/>
          <p:nvPr/>
        </p:nvSpPr>
        <p:spPr>
          <a:xfrm>
            <a:off x="960120" y="1554480"/>
            <a:ext cx="640080" cy="640080"/>
          </a:xfrm>
          <a:prstGeom prst="ellipse">
            <a:avLst/>
          </a:prstGeom>
          <a:solidFill>
            <a:schemeClr val="tx2"/>
          </a:solidFill>
          <a:ln w="25400">
            <a:solidFill>
              <a:schemeClr val="bg1"/>
            </a:solidFill>
            <a:prstDash val="solid"/>
          </a:ln>
        </p:spPr>
      </p:sp>
      <p:sp>
        <p:nvSpPr>
          <p:cNvPr id="5" name="leak 1 number"/>
          <p:cNvSpPr txBox="1"/>
          <p:nvPr/>
        </p:nvSpPr>
        <p:spPr>
          <a:xfrm>
            <a:off x="960120"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leak 1 stage"/>
          <p:cNvSpPr txBox="1"/>
          <p:nvPr/>
        </p:nvSpPr>
        <p:spPr>
          <a:xfrm>
            <a:off x="548640" y="2377440"/>
            <a:ext cx="1463040"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Capture</a:t>
            </a:r>
            <a:endParaRPr lang="en-US" sz="1800" dirty="0"/>
          </a:p>
        </p:txBody>
      </p:sp>
      <p:sp>
        <p:nvSpPr>
          <p:cNvPr id="7" name="leak 1 leak card"/>
          <p:cNvSpPr/>
          <p:nvPr/>
        </p:nvSpPr>
        <p:spPr>
          <a:xfrm>
            <a:off x="548640" y="2880360"/>
            <a:ext cx="1463040" cy="685800"/>
          </a:xfrm>
          <a:prstGeom prst="roundRect">
            <a:avLst>
              <a:gd name="adj" fmla="val 10667"/>
            </a:avLst>
          </a:prstGeom>
          <a:solidFill>
            <a:schemeClr val="accent6"/>
          </a:solidFill>
          <a:ln w="12700">
            <a:solidFill>
              <a:schemeClr val="accent6"/>
            </a:solidFill>
            <a:prstDash val="solid"/>
          </a:ln>
        </p:spPr>
      </p:sp>
      <p:sp>
        <p:nvSpPr>
          <p:cNvPr id="8" name="leak 1 leak"/>
          <p:cNvSpPr txBox="1"/>
          <p:nvPr/>
        </p:nvSpPr>
        <p:spPr>
          <a:xfrm>
            <a:off x="621792" y="2880360"/>
            <a:ext cx="1316736" cy="685800"/>
          </a:xfrm>
          <a:prstGeom prst="rect">
            <a:avLst/>
          </a:prstGeom>
          <a:noFill/>
          <a:ln/>
        </p:spPr>
        <p:txBody>
          <a:bodyPr wrap="square" lIns="0" tIns="0" rIns="0" bIns="0" rtlCol="0" anchor="ctr"/>
          <a:lstStyle/>
          <a:p>
            <a:pPr algn="ctr" indent="0" marL="0">
              <a:buNone/>
            </a:pPr>
            <a:r>
              <a:rPr lang="en-US" sz="1400" b="1" dirty="0">
                <a:solidFill>
                  <a:schemeClr val="accent3"/>
                </a:solidFill>
              </a:rPr>
              <a:t>Never entered</a:t>
            </a:r>
            <a:endParaRPr lang="en-US" sz="1400" dirty="0"/>
          </a:p>
        </p:txBody>
      </p:sp>
      <p:sp>
        <p:nvSpPr>
          <p:cNvPr id="9" name="leak 1 example"/>
          <p:cNvSpPr txBox="1"/>
          <p:nvPr/>
        </p:nvSpPr>
        <p:spPr>
          <a:xfrm>
            <a:off x="594360" y="3749040"/>
            <a:ext cx="1371600" cy="1280160"/>
          </a:xfrm>
          <a:prstGeom prst="rect">
            <a:avLst/>
          </a:prstGeom>
          <a:noFill/>
          <a:ln/>
        </p:spPr>
        <p:txBody>
          <a:bodyPr wrap="square" lIns="0" tIns="0" rIns="0" bIns="0" rtlCol="0" anchor="t"/>
          <a:lstStyle/>
          <a:p>
            <a:pPr algn="ctr" indent="0" marL="0">
              <a:buNone/>
            </a:pPr>
            <a:r>
              <a:rPr lang="en-US" sz="1300" dirty="0">
                <a:solidFill>
                  <a:schemeClr val="tx1"/>
                </a:solidFill>
              </a:rPr>
              <a:t>4 inbound leads not in the CRM</a:t>
            </a:r>
            <a:endParaRPr lang="en-US" sz="1300" dirty="0"/>
          </a:p>
        </p:txBody>
      </p:sp>
      <p:sp>
        <p:nvSpPr>
          <p:cNvPr id="10" name="leak 2 circle"/>
          <p:cNvSpPr/>
          <p:nvPr/>
        </p:nvSpPr>
        <p:spPr>
          <a:xfrm>
            <a:off x="2564892" y="1554480"/>
            <a:ext cx="640080" cy="640080"/>
          </a:xfrm>
          <a:prstGeom prst="ellipse">
            <a:avLst/>
          </a:prstGeom>
          <a:solidFill>
            <a:schemeClr val="tx2"/>
          </a:solidFill>
          <a:ln w="25400">
            <a:solidFill>
              <a:schemeClr val="bg1"/>
            </a:solidFill>
            <a:prstDash val="solid"/>
          </a:ln>
        </p:spPr>
      </p:sp>
      <p:sp>
        <p:nvSpPr>
          <p:cNvPr id="11" name="leak 2 number"/>
          <p:cNvSpPr txBox="1"/>
          <p:nvPr/>
        </p:nvSpPr>
        <p:spPr>
          <a:xfrm>
            <a:off x="2564892"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leak 2 stage"/>
          <p:cNvSpPr txBox="1"/>
          <p:nvPr/>
        </p:nvSpPr>
        <p:spPr>
          <a:xfrm>
            <a:off x="2153412" y="2377440"/>
            <a:ext cx="1463040"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Log</a:t>
            </a:r>
            <a:endParaRPr lang="en-US" sz="1800" dirty="0"/>
          </a:p>
        </p:txBody>
      </p:sp>
      <p:sp>
        <p:nvSpPr>
          <p:cNvPr id="13" name="leak 2 leak card"/>
          <p:cNvSpPr/>
          <p:nvPr/>
        </p:nvSpPr>
        <p:spPr>
          <a:xfrm>
            <a:off x="2153412" y="2880360"/>
            <a:ext cx="1463040" cy="685800"/>
          </a:xfrm>
          <a:prstGeom prst="roundRect">
            <a:avLst>
              <a:gd name="adj" fmla="val 10667"/>
            </a:avLst>
          </a:prstGeom>
          <a:solidFill>
            <a:schemeClr val="accent6"/>
          </a:solidFill>
          <a:ln w="12700">
            <a:solidFill>
              <a:schemeClr val="accent6"/>
            </a:solidFill>
            <a:prstDash val="solid"/>
          </a:ln>
        </p:spPr>
      </p:sp>
      <p:sp>
        <p:nvSpPr>
          <p:cNvPr id="14" name="leak 2 leak"/>
          <p:cNvSpPr txBox="1"/>
          <p:nvPr/>
        </p:nvSpPr>
        <p:spPr>
          <a:xfrm>
            <a:off x="2226564" y="2880360"/>
            <a:ext cx="1316736" cy="685800"/>
          </a:xfrm>
          <a:prstGeom prst="rect">
            <a:avLst/>
          </a:prstGeom>
          <a:noFill/>
          <a:ln/>
        </p:spPr>
        <p:txBody>
          <a:bodyPr wrap="square" lIns="0" tIns="0" rIns="0" bIns="0" rtlCol="0" anchor="ctr"/>
          <a:lstStyle/>
          <a:p>
            <a:pPr algn="ctr" indent="0" marL="0">
              <a:buNone/>
            </a:pPr>
            <a:r>
              <a:rPr lang="en-US" sz="1400" b="1" dirty="0">
                <a:solidFill>
                  <a:schemeClr val="accent3"/>
                </a:solidFill>
              </a:rPr>
              <a:t>Thin records</a:t>
            </a:r>
            <a:endParaRPr lang="en-US" sz="1400" dirty="0"/>
          </a:p>
        </p:txBody>
      </p:sp>
      <p:sp>
        <p:nvSpPr>
          <p:cNvPr id="15" name="leak 2 example"/>
          <p:cNvSpPr txBox="1"/>
          <p:nvPr/>
        </p:nvSpPr>
        <p:spPr>
          <a:xfrm>
            <a:off x="2199132" y="3749040"/>
            <a:ext cx="1371600" cy="1280160"/>
          </a:xfrm>
          <a:prstGeom prst="rect">
            <a:avLst/>
          </a:prstGeom>
          <a:noFill/>
          <a:ln/>
        </p:spPr>
        <p:txBody>
          <a:bodyPr wrap="square" lIns="0" tIns="0" rIns="0" bIns="0" rtlCol="0" anchor="t"/>
          <a:lstStyle/>
          <a:p>
            <a:pPr algn="ctr" indent="0" marL="0">
              <a:buNone/>
            </a:pPr>
            <a:r>
              <a:rPr lang="en-US" sz="1300" dirty="0">
                <a:solidFill>
                  <a:schemeClr val="tx1"/>
                </a:solidFill>
              </a:rPr>
              <a:t>MedTrack: “dashboards? or LIMS? both?”</a:t>
            </a:r>
            <a:endParaRPr lang="en-US" sz="1300" dirty="0"/>
          </a:p>
        </p:txBody>
      </p:sp>
      <p:sp>
        <p:nvSpPr>
          <p:cNvPr id="16" name="leak 3 circle"/>
          <p:cNvSpPr/>
          <p:nvPr/>
        </p:nvSpPr>
        <p:spPr>
          <a:xfrm>
            <a:off x="4169664" y="1554480"/>
            <a:ext cx="640080" cy="640080"/>
          </a:xfrm>
          <a:prstGeom prst="ellipse">
            <a:avLst/>
          </a:prstGeom>
          <a:solidFill>
            <a:schemeClr val="tx2"/>
          </a:solidFill>
          <a:ln w="25400">
            <a:solidFill>
              <a:schemeClr val="bg1"/>
            </a:solidFill>
            <a:prstDash val="solid"/>
          </a:ln>
        </p:spPr>
      </p:sp>
      <p:sp>
        <p:nvSpPr>
          <p:cNvPr id="17" name="leak 3 number"/>
          <p:cNvSpPr txBox="1"/>
          <p:nvPr/>
        </p:nvSpPr>
        <p:spPr>
          <a:xfrm>
            <a:off x="4169664"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8" name="leak 3 stage"/>
          <p:cNvSpPr txBox="1"/>
          <p:nvPr/>
        </p:nvSpPr>
        <p:spPr>
          <a:xfrm>
            <a:off x="3758184" y="2377440"/>
            <a:ext cx="1463040"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Follow up</a:t>
            </a:r>
            <a:endParaRPr lang="en-US" sz="1800" dirty="0"/>
          </a:p>
        </p:txBody>
      </p:sp>
      <p:sp>
        <p:nvSpPr>
          <p:cNvPr id="19" name="leak 3 leak card"/>
          <p:cNvSpPr/>
          <p:nvPr/>
        </p:nvSpPr>
        <p:spPr>
          <a:xfrm>
            <a:off x="3758184" y="2880360"/>
            <a:ext cx="1463040" cy="685800"/>
          </a:xfrm>
          <a:prstGeom prst="roundRect">
            <a:avLst>
              <a:gd name="adj" fmla="val 10667"/>
            </a:avLst>
          </a:prstGeom>
          <a:solidFill>
            <a:schemeClr val="accent6"/>
          </a:solidFill>
          <a:ln w="12700">
            <a:solidFill>
              <a:schemeClr val="accent6"/>
            </a:solidFill>
            <a:prstDash val="solid"/>
          </a:ln>
        </p:spPr>
      </p:sp>
      <p:sp>
        <p:nvSpPr>
          <p:cNvPr id="20" name="leak 3 leak"/>
          <p:cNvSpPr txBox="1"/>
          <p:nvPr/>
        </p:nvSpPr>
        <p:spPr>
          <a:xfrm>
            <a:off x="3831336" y="2880360"/>
            <a:ext cx="1316736" cy="685800"/>
          </a:xfrm>
          <a:prstGeom prst="rect">
            <a:avLst/>
          </a:prstGeom>
          <a:noFill/>
          <a:ln/>
        </p:spPr>
        <p:txBody>
          <a:bodyPr wrap="square" lIns="0" tIns="0" rIns="0" bIns="0" rtlCol="0" anchor="ctr"/>
          <a:lstStyle/>
          <a:p>
            <a:pPr algn="ctr" indent="0" marL="0">
              <a:buNone/>
            </a:pPr>
            <a:r>
              <a:rPr lang="en-US" sz="1400" b="1" dirty="0">
                <a:solidFill>
                  <a:schemeClr val="accent3"/>
                </a:solidFill>
              </a:rPr>
              <a:t>Promises slip</a:t>
            </a:r>
            <a:endParaRPr lang="en-US" sz="1400" dirty="0"/>
          </a:p>
        </p:txBody>
      </p:sp>
      <p:sp>
        <p:nvSpPr>
          <p:cNvPr id="21" name="leak 3 example"/>
          <p:cNvSpPr txBox="1"/>
          <p:nvPr/>
        </p:nvSpPr>
        <p:spPr>
          <a:xfrm>
            <a:off x="3803904" y="3749040"/>
            <a:ext cx="1371600" cy="1280160"/>
          </a:xfrm>
          <a:prstGeom prst="rect">
            <a:avLst/>
          </a:prstGeom>
          <a:noFill/>
          <a:ln/>
        </p:spPr>
        <p:txBody>
          <a:bodyPr wrap="square" lIns="0" tIns="0" rIns="0" bIns="0" rtlCol="0" anchor="t"/>
          <a:lstStyle/>
          <a:p>
            <a:pPr algn="ctr" indent="0" marL="0">
              <a:buNone/>
            </a:pPr>
            <a:r>
              <a:rPr lang="en-US" sz="1300" dirty="0">
                <a:solidFill>
                  <a:schemeClr val="tx1"/>
                </a:solidFill>
              </a:rPr>
              <a:t>ByteBridge case studies, 56 days late</a:t>
            </a:r>
            <a:endParaRPr lang="en-US" sz="1300" dirty="0"/>
          </a:p>
        </p:txBody>
      </p:sp>
      <p:sp>
        <p:nvSpPr>
          <p:cNvPr id="22" name="leak 4 circle"/>
          <p:cNvSpPr/>
          <p:nvPr/>
        </p:nvSpPr>
        <p:spPr>
          <a:xfrm>
            <a:off x="5774436" y="1554480"/>
            <a:ext cx="640080" cy="640080"/>
          </a:xfrm>
          <a:prstGeom prst="ellipse">
            <a:avLst/>
          </a:prstGeom>
          <a:solidFill>
            <a:schemeClr val="tx2"/>
          </a:solidFill>
          <a:ln w="25400">
            <a:solidFill>
              <a:schemeClr val="bg1"/>
            </a:solidFill>
            <a:prstDash val="solid"/>
          </a:ln>
        </p:spPr>
      </p:sp>
      <p:sp>
        <p:nvSpPr>
          <p:cNvPr id="23" name="leak 4 number"/>
          <p:cNvSpPr txBox="1"/>
          <p:nvPr/>
        </p:nvSpPr>
        <p:spPr>
          <a:xfrm>
            <a:off x="5774436"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4" name="leak 4 stage"/>
          <p:cNvSpPr txBox="1"/>
          <p:nvPr/>
        </p:nvSpPr>
        <p:spPr>
          <a:xfrm>
            <a:off x="5362956" y="2377440"/>
            <a:ext cx="1463040"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Propose</a:t>
            </a:r>
            <a:endParaRPr lang="en-US" sz="1800" dirty="0"/>
          </a:p>
        </p:txBody>
      </p:sp>
      <p:sp>
        <p:nvSpPr>
          <p:cNvPr id="25" name="leak 4 leak card"/>
          <p:cNvSpPr/>
          <p:nvPr/>
        </p:nvSpPr>
        <p:spPr>
          <a:xfrm>
            <a:off x="5362956" y="2880360"/>
            <a:ext cx="1463040" cy="685800"/>
          </a:xfrm>
          <a:prstGeom prst="roundRect">
            <a:avLst>
              <a:gd name="adj" fmla="val 10667"/>
            </a:avLst>
          </a:prstGeom>
          <a:solidFill>
            <a:schemeClr val="accent6"/>
          </a:solidFill>
          <a:ln w="12700">
            <a:solidFill>
              <a:schemeClr val="accent6"/>
            </a:solidFill>
            <a:prstDash val="solid"/>
          </a:ln>
        </p:spPr>
      </p:sp>
      <p:sp>
        <p:nvSpPr>
          <p:cNvPr id="26" name="leak 4 leak"/>
          <p:cNvSpPr txBox="1"/>
          <p:nvPr/>
        </p:nvSpPr>
        <p:spPr>
          <a:xfrm>
            <a:off x="5436108" y="2880360"/>
            <a:ext cx="1316736" cy="685800"/>
          </a:xfrm>
          <a:prstGeom prst="rect">
            <a:avLst/>
          </a:prstGeom>
          <a:noFill/>
          <a:ln/>
        </p:spPr>
        <p:txBody>
          <a:bodyPr wrap="square" lIns="0" tIns="0" rIns="0" bIns="0" rtlCol="0" anchor="ctr"/>
          <a:lstStyle/>
          <a:p>
            <a:pPr algn="ctr" indent="0" marL="0">
              <a:buNone/>
            </a:pPr>
            <a:r>
              <a:rPr lang="en-US" sz="1400" b="1" dirty="0">
                <a:solidFill>
                  <a:schemeClr val="accent3"/>
                </a:solidFill>
              </a:rPr>
              <a:t>Questions wait</a:t>
            </a:r>
            <a:endParaRPr lang="en-US" sz="1400" dirty="0"/>
          </a:p>
        </p:txBody>
      </p:sp>
      <p:sp>
        <p:nvSpPr>
          <p:cNvPr id="27" name="leak 4 example"/>
          <p:cNvSpPr txBox="1"/>
          <p:nvPr/>
        </p:nvSpPr>
        <p:spPr>
          <a:xfrm>
            <a:off x="5408676" y="3749040"/>
            <a:ext cx="1371600" cy="1280160"/>
          </a:xfrm>
          <a:prstGeom prst="rect">
            <a:avLst/>
          </a:prstGeom>
          <a:noFill/>
          <a:ln/>
        </p:spPr>
        <p:txBody>
          <a:bodyPr wrap="square" lIns="0" tIns="0" rIns="0" bIns="0" rtlCol="0" anchor="t"/>
          <a:lstStyle/>
          <a:p>
            <a:pPr algn="ctr" indent="0" marL="0">
              <a:buNone/>
            </a:pPr>
            <a:r>
              <a:rPr lang="en-US" sz="1300" dirty="0">
                <a:solidFill>
                  <a:schemeClr val="tx1"/>
                </a:solidFill>
              </a:rPr>
              <a:t>Meridian waiting 24 days</a:t>
            </a:r>
            <a:endParaRPr lang="en-US" sz="1300" dirty="0"/>
          </a:p>
        </p:txBody>
      </p:sp>
      <p:sp>
        <p:nvSpPr>
          <p:cNvPr id="28" name="leak 5 circle"/>
          <p:cNvSpPr/>
          <p:nvPr/>
        </p:nvSpPr>
        <p:spPr>
          <a:xfrm>
            <a:off x="7379208" y="1554480"/>
            <a:ext cx="640080" cy="640080"/>
          </a:xfrm>
          <a:prstGeom prst="ellipse">
            <a:avLst/>
          </a:prstGeom>
          <a:solidFill>
            <a:schemeClr val="tx2"/>
          </a:solidFill>
          <a:ln w="25400">
            <a:solidFill>
              <a:schemeClr val="bg1"/>
            </a:solidFill>
            <a:prstDash val="solid"/>
          </a:ln>
        </p:spPr>
      </p:sp>
      <p:sp>
        <p:nvSpPr>
          <p:cNvPr id="29" name="leak 5 number"/>
          <p:cNvSpPr txBox="1"/>
          <p:nvPr/>
        </p:nvSpPr>
        <p:spPr>
          <a:xfrm>
            <a:off x="7379208"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0" name="leak 5 stage"/>
          <p:cNvSpPr txBox="1"/>
          <p:nvPr/>
        </p:nvSpPr>
        <p:spPr>
          <a:xfrm>
            <a:off x="6967728" y="2377440"/>
            <a:ext cx="1463040"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Close</a:t>
            </a:r>
            <a:endParaRPr lang="en-US" sz="1800" dirty="0"/>
          </a:p>
        </p:txBody>
      </p:sp>
      <p:sp>
        <p:nvSpPr>
          <p:cNvPr id="31" name="leak 5 leak card"/>
          <p:cNvSpPr/>
          <p:nvPr/>
        </p:nvSpPr>
        <p:spPr>
          <a:xfrm>
            <a:off x="6967728" y="2880360"/>
            <a:ext cx="1463040" cy="685800"/>
          </a:xfrm>
          <a:prstGeom prst="roundRect">
            <a:avLst>
              <a:gd name="adj" fmla="val 10667"/>
            </a:avLst>
          </a:prstGeom>
          <a:solidFill>
            <a:schemeClr val="accent6"/>
          </a:solidFill>
          <a:ln w="12700">
            <a:solidFill>
              <a:schemeClr val="accent6"/>
            </a:solidFill>
            <a:prstDash val="solid"/>
          </a:ln>
        </p:spPr>
      </p:sp>
      <p:sp>
        <p:nvSpPr>
          <p:cNvPr id="32" name="leak 5 leak"/>
          <p:cNvSpPr txBox="1"/>
          <p:nvPr/>
        </p:nvSpPr>
        <p:spPr>
          <a:xfrm>
            <a:off x="7040880" y="2880360"/>
            <a:ext cx="1316736" cy="685800"/>
          </a:xfrm>
          <a:prstGeom prst="rect">
            <a:avLst/>
          </a:prstGeom>
          <a:noFill/>
          <a:ln/>
        </p:spPr>
        <p:txBody>
          <a:bodyPr wrap="square" lIns="0" tIns="0" rIns="0" bIns="0" rtlCol="0" anchor="ctr"/>
          <a:lstStyle/>
          <a:p>
            <a:pPr algn="ctr" indent="0" marL="0">
              <a:buNone/>
            </a:pPr>
            <a:r>
              <a:rPr lang="en-US" sz="1400" b="1" dirty="0">
                <a:solidFill>
                  <a:schemeClr val="accent3"/>
                </a:solidFill>
              </a:rPr>
              <a:t>CRM is wrong</a:t>
            </a:r>
            <a:endParaRPr lang="en-US" sz="1400" dirty="0"/>
          </a:p>
        </p:txBody>
      </p:sp>
      <p:sp>
        <p:nvSpPr>
          <p:cNvPr id="33" name="leak 5 example"/>
          <p:cNvSpPr txBox="1"/>
          <p:nvPr/>
        </p:nvSpPr>
        <p:spPr>
          <a:xfrm>
            <a:off x="7013448" y="3749040"/>
            <a:ext cx="1371600" cy="1280160"/>
          </a:xfrm>
          <a:prstGeom prst="rect">
            <a:avLst/>
          </a:prstGeom>
          <a:noFill/>
          <a:ln/>
        </p:spPr>
        <p:txBody>
          <a:bodyPr wrap="square" lIns="0" tIns="0" rIns="0" bIns="0" rtlCol="0" anchor="t"/>
          <a:lstStyle/>
          <a:p>
            <a:pPr algn="ctr" indent="0" marL="0">
              <a:buNone/>
            </a:pPr>
            <a:r>
              <a:rPr lang="en-US" sz="1300" dirty="0">
                <a:solidFill>
                  <a:schemeClr val="tx1"/>
                </a:solidFill>
              </a:rPr>
              <a:t>Trustline said yes; CRM says Proposal Sent</a:t>
            </a:r>
            <a:endParaRPr lang="en-US" sz="1300" dirty="0"/>
          </a:p>
        </p:txBody>
      </p:sp>
      <p:sp>
        <p:nvSpPr>
          <p:cNvPr id="34" name="leak 6 circle"/>
          <p:cNvSpPr/>
          <p:nvPr/>
        </p:nvSpPr>
        <p:spPr>
          <a:xfrm>
            <a:off x="8983980" y="1554480"/>
            <a:ext cx="640080" cy="640080"/>
          </a:xfrm>
          <a:prstGeom prst="ellipse">
            <a:avLst/>
          </a:prstGeom>
          <a:solidFill>
            <a:schemeClr val="tx2"/>
          </a:solidFill>
          <a:ln w="25400">
            <a:solidFill>
              <a:schemeClr val="bg1"/>
            </a:solidFill>
            <a:prstDash val="solid"/>
          </a:ln>
        </p:spPr>
      </p:sp>
      <p:sp>
        <p:nvSpPr>
          <p:cNvPr id="35" name="leak 6 number"/>
          <p:cNvSpPr txBox="1"/>
          <p:nvPr/>
        </p:nvSpPr>
        <p:spPr>
          <a:xfrm>
            <a:off x="8983980"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36" name="leak 6 stage"/>
          <p:cNvSpPr txBox="1"/>
          <p:nvPr/>
        </p:nvSpPr>
        <p:spPr>
          <a:xfrm>
            <a:off x="8572500" y="2377440"/>
            <a:ext cx="1463040"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Grow</a:t>
            </a:r>
            <a:endParaRPr lang="en-US" sz="1800" dirty="0"/>
          </a:p>
        </p:txBody>
      </p:sp>
      <p:sp>
        <p:nvSpPr>
          <p:cNvPr id="37" name="leak 6 leak card"/>
          <p:cNvSpPr/>
          <p:nvPr/>
        </p:nvSpPr>
        <p:spPr>
          <a:xfrm>
            <a:off x="8572500" y="2880360"/>
            <a:ext cx="1463040" cy="685800"/>
          </a:xfrm>
          <a:prstGeom prst="roundRect">
            <a:avLst>
              <a:gd name="adj" fmla="val 10667"/>
            </a:avLst>
          </a:prstGeom>
          <a:solidFill>
            <a:schemeClr val="accent6"/>
          </a:solidFill>
          <a:ln w="12700">
            <a:solidFill>
              <a:schemeClr val="accent6"/>
            </a:solidFill>
            <a:prstDash val="solid"/>
          </a:ln>
        </p:spPr>
      </p:sp>
      <p:sp>
        <p:nvSpPr>
          <p:cNvPr id="38" name="leak 6 leak"/>
          <p:cNvSpPr txBox="1"/>
          <p:nvPr/>
        </p:nvSpPr>
        <p:spPr>
          <a:xfrm>
            <a:off x="8645652" y="2880360"/>
            <a:ext cx="1316736" cy="685800"/>
          </a:xfrm>
          <a:prstGeom prst="rect">
            <a:avLst/>
          </a:prstGeom>
          <a:noFill/>
          <a:ln/>
        </p:spPr>
        <p:txBody>
          <a:bodyPr wrap="square" lIns="0" tIns="0" rIns="0" bIns="0" rtlCol="0" anchor="ctr"/>
          <a:lstStyle/>
          <a:p>
            <a:pPr algn="ctr" indent="0" marL="0">
              <a:buNone/>
            </a:pPr>
            <a:r>
              <a:rPr lang="en-US" sz="1400" b="1" dirty="0">
                <a:solidFill>
                  <a:schemeClr val="accent3"/>
                </a:solidFill>
              </a:rPr>
              <a:t>Cross-sells lost</a:t>
            </a:r>
            <a:endParaRPr lang="en-US" sz="1400" dirty="0"/>
          </a:p>
        </p:txBody>
      </p:sp>
      <p:sp>
        <p:nvSpPr>
          <p:cNvPr id="39" name="leak 6 example"/>
          <p:cNvSpPr txBox="1"/>
          <p:nvPr/>
        </p:nvSpPr>
        <p:spPr>
          <a:xfrm>
            <a:off x="8618220" y="3749040"/>
            <a:ext cx="1371600" cy="1280160"/>
          </a:xfrm>
          <a:prstGeom prst="rect">
            <a:avLst/>
          </a:prstGeom>
          <a:noFill/>
          <a:ln/>
        </p:spPr>
        <p:txBody>
          <a:bodyPr wrap="square" lIns="0" tIns="0" rIns="0" bIns="0" rtlCol="0" anchor="t"/>
          <a:lstStyle/>
          <a:p>
            <a:pPr algn="ctr" indent="0" marL="0">
              <a:buNone/>
            </a:pPr>
            <a:r>
              <a:rPr lang="en-US" sz="1300" dirty="0">
                <a:solidFill>
                  <a:schemeClr val="tx1"/>
                </a:solidFill>
              </a:rPr>
              <a:t>Acme asked about forecasting</a:t>
            </a:r>
            <a:endParaRPr lang="en-US" sz="1300" dirty="0"/>
          </a:p>
        </p:txBody>
      </p:sp>
      <p:sp>
        <p:nvSpPr>
          <p:cNvPr id="40" name="leak 7 circle"/>
          <p:cNvSpPr/>
          <p:nvPr/>
        </p:nvSpPr>
        <p:spPr>
          <a:xfrm>
            <a:off x="10588752" y="1554480"/>
            <a:ext cx="640080" cy="640080"/>
          </a:xfrm>
          <a:prstGeom prst="ellipse">
            <a:avLst/>
          </a:prstGeom>
          <a:solidFill>
            <a:schemeClr val="tx2"/>
          </a:solidFill>
          <a:ln w="25400">
            <a:solidFill>
              <a:schemeClr val="bg1"/>
            </a:solidFill>
            <a:prstDash val="solid"/>
          </a:ln>
        </p:spPr>
      </p:sp>
      <p:sp>
        <p:nvSpPr>
          <p:cNvPr id="41" name="leak 7 number"/>
          <p:cNvSpPr txBox="1"/>
          <p:nvPr/>
        </p:nvSpPr>
        <p:spPr>
          <a:xfrm>
            <a:off x="10588752" y="1554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7</a:t>
            </a:r>
            <a:endParaRPr lang="en-US" sz="1800" dirty="0"/>
          </a:p>
        </p:txBody>
      </p:sp>
      <p:sp>
        <p:nvSpPr>
          <p:cNvPr id="42" name="leak 7 stage"/>
          <p:cNvSpPr txBox="1"/>
          <p:nvPr/>
        </p:nvSpPr>
        <p:spPr>
          <a:xfrm>
            <a:off x="10177272" y="2377440"/>
            <a:ext cx="1463040"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Revisit</a:t>
            </a:r>
            <a:endParaRPr lang="en-US" sz="1800" dirty="0"/>
          </a:p>
        </p:txBody>
      </p:sp>
      <p:sp>
        <p:nvSpPr>
          <p:cNvPr id="43" name="leak 7 leak card"/>
          <p:cNvSpPr/>
          <p:nvPr/>
        </p:nvSpPr>
        <p:spPr>
          <a:xfrm>
            <a:off x="10177272" y="2880360"/>
            <a:ext cx="1463040" cy="685800"/>
          </a:xfrm>
          <a:prstGeom prst="roundRect">
            <a:avLst>
              <a:gd name="adj" fmla="val 10667"/>
            </a:avLst>
          </a:prstGeom>
          <a:solidFill>
            <a:schemeClr val="accent6"/>
          </a:solidFill>
          <a:ln w="12700">
            <a:solidFill>
              <a:schemeClr val="accent6"/>
            </a:solidFill>
            <a:prstDash val="solid"/>
          </a:ln>
        </p:spPr>
      </p:sp>
      <p:sp>
        <p:nvSpPr>
          <p:cNvPr id="44" name="leak 7 leak"/>
          <p:cNvSpPr txBox="1"/>
          <p:nvPr/>
        </p:nvSpPr>
        <p:spPr>
          <a:xfrm>
            <a:off x="10250424" y="2880360"/>
            <a:ext cx="1316736" cy="685800"/>
          </a:xfrm>
          <a:prstGeom prst="rect">
            <a:avLst/>
          </a:prstGeom>
          <a:noFill/>
          <a:ln/>
        </p:spPr>
        <p:txBody>
          <a:bodyPr wrap="square" lIns="0" tIns="0" rIns="0" bIns="0" rtlCol="0" anchor="ctr"/>
          <a:lstStyle/>
          <a:p>
            <a:pPr algn="ctr" indent="0" marL="0">
              <a:buNone/>
            </a:pPr>
            <a:r>
              <a:rPr lang="en-US" sz="1400" b="1" dirty="0">
                <a:solidFill>
                  <a:schemeClr val="accent3"/>
                </a:solidFill>
              </a:rPr>
              <a:t>Lost stays lost</a:t>
            </a:r>
            <a:endParaRPr lang="en-US" sz="1400" dirty="0"/>
          </a:p>
        </p:txBody>
      </p:sp>
      <p:sp>
        <p:nvSpPr>
          <p:cNvPr id="45" name="leak 7 example"/>
          <p:cNvSpPr txBox="1"/>
          <p:nvPr/>
        </p:nvSpPr>
        <p:spPr>
          <a:xfrm>
            <a:off x="10222992" y="3749040"/>
            <a:ext cx="1371600" cy="1280160"/>
          </a:xfrm>
          <a:prstGeom prst="rect">
            <a:avLst/>
          </a:prstGeom>
          <a:noFill/>
          <a:ln/>
        </p:spPr>
        <p:txBody>
          <a:bodyPr wrap="square" lIns="0" tIns="0" rIns="0" bIns="0" rtlCol="0" anchor="t"/>
          <a:lstStyle/>
          <a:p>
            <a:pPr algn="ctr" indent="0" marL="0">
              <a:buNone/>
            </a:pPr>
            <a:r>
              <a:rPr lang="en-US" sz="1300" dirty="0">
                <a:solidFill>
                  <a:schemeClr val="tx1"/>
                </a:solidFill>
              </a:rPr>
              <a:t>Quantia: “check back Q2 2026”</a:t>
            </a:r>
            <a:endParaRPr lang="en-US" sz="1300" dirty="0"/>
          </a:p>
        </p:txBody>
      </p:sp>
      <p:sp>
        <p:nvSpPr>
          <p:cNvPr id="46" name="insight card"/>
          <p:cNvSpPr/>
          <p:nvPr/>
        </p:nvSpPr>
        <p:spPr>
          <a:xfrm>
            <a:off x="548640" y="5257800"/>
            <a:ext cx="11091672" cy="868680"/>
          </a:xfrm>
          <a:prstGeom prst="roundRect">
            <a:avLst>
              <a:gd name="adj" fmla="val 8421"/>
            </a:avLst>
          </a:prstGeom>
          <a:solidFill>
            <a:schemeClr val="bg2"/>
          </a:solidFill>
          <a:ln w="12700">
            <a:solidFill>
              <a:schemeClr val="bg2"/>
            </a:solidFill>
            <a:prstDash val="solid"/>
          </a:ln>
        </p:spPr>
      </p:sp>
      <p:sp>
        <p:nvSpPr>
          <p:cNvPr id="47" name="insight text"/>
          <p:cNvSpPr txBox="1"/>
          <p:nvPr/>
        </p:nvSpPr>
        <p:spPr>
          <a:xfrm>
            <a:off x="777240" y="5257800"/>
            <a:ext cx="10607040" cy="868680"/>
          </a:xfrm>
          <a:prstGeom prst="rect">
            <a:avLst/>
          </a:prstGeom>
          <a:noFill/>
          <a:ln/>
        </p:spPr>
        <p:txBody>
          <a:bodyPr wrap="square" lIns="0" tIns="0" rIns="0" bIns="0" rtlCol="0" anchor="ctr"/>
          <a:lstStyle/>
          <a:p>
            <a:pPr indent="0" marL="0">
              <a:buNone/>
            </a:pPr>
            <a:r>
              <a:rPr lang="en-US" sz="1600" b="1" dirty="0">
                <a:solidFill>
                  <a:schemeClr val="tx2"/>
                </a:solidFill>
              </a:rPr>
              <a:t>Insight: </a:t>
            </a:r>
            <a:pPr indent="0" marL="0">
              <a:buNone/>
            </a:pPr>
            <a:r>
              <a:rPr lang="en-US" sz="1600" dirty="0">
                <a:solidFill>
                  <a:schemeClr val="tx1"/>
                </a:solidFill>
              </a:rPr>
              <a:t>every leak has the same shape. The facts are already written down in an email or note, but nothing turns them into a task with a date and an owner.</a:t>
            </a:r>
            <a:endParaRPr lang="en-US" sz="16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Root cause: the CRM depends on memory</a:t>
            </a:r>
            <a:endParaRPr lang="en-US" sz="3600" dirty="0"/>
          </a:p>
        </p:txBody>
      </p:sp>
      <p:sp>
        <p:nvSpPr>
          <p:cNvPr id="3" name="why 1 circle"/>
          <p:cNvSpPr/>
          <p:nvPr/>
        </p:nvSpPr>
        <p:spPr>
          <a:xfrm>
            <a:off x="548640" y="1463040"/>
            <a:ext cx="548640" cy="548640"/>
          </a:xfrm>
          <a:prstGeom prst="ellipse">
            <a:avLst/>
          </a:prstGeom>
          <a:solidFill>
            <a:schemeClr val="tx2"/>
          </a:solidFill>
          <a:ln w="12700">
            <a:solidFill>
              <a:schemeClr val="tx2"/>
            </a:solidFill>
            <a:prstDash val="solid"/>
          </a:ln>
        </p:spPr>
      </p:sp>
      <p:sp>
        <p:nvSpPr>
          <p:cNvPr id="4" name="why 1 number"/>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why 1 text"/>
          <p:cNvSpPr txBox="1"/>
          <p:nvPr/>
        </p:nvSpPr>
        <p:spPr>
          <a:xfrm>
            <a:off x="1280160" y="1371600"/>
            <a:ext cx="5303520" cy="777240"/>
          </a:xfrm>
          <a:prstGeom prst="rect">
            <a:avLst/>
          </a:prstGeom>
          <a:noFill/>
          <a:ln/>
        </p:spPr>
        <p:txBody>
          <a:bodyPr wrap="square" lIns="0" tIns="0" rIns="0" bIns="0" rtlCol="0" anchor="ctr"/>
          <a:lstStyle/>
          <a:p>
            <a:pPr indent="0" marL="0">
              <a:buNone/>
            </a:pPr>
            <a:r>
              <a:rPr lang="en-US" sz="1500" dirty="0">
                <a:solidFill>
                  <a:schemeClr val="tx1"/>
                </a:solidFill>
              </a:rPr>
              <a:t>Why did FinEdge (USD 95k) wait 3 weeks? Nobody noticed its email needed action.</a:t>
            </a:r>
            <a:endParaRPr lang="en-US" sz="1500" dirty="0"/>
          </a:p>
        </p:txBody>
      </p:sp>
      <p:sp>
        <p:nvSpPr>
          <p:cNvPr id="6" name="why 2 circle"/>
          <p:cNvSpPr/>
          <p:nvPr/>
        </p:nvSpPr>
        <p:spPr>
          <a:xfrm>
            <a:off x="548640" y="2395728"/>
            <a:ext cx="548640" cy="548640"/>
          </a:xfrm>
          <a:prstGeom prst="ellipse">
            <a:avLst/>
          </a:prstGeom>
          <a:solidFill>
            <a:schemeClr val="tx2"/>
          </a:solidFill>
          <a:ln w="12700">
            <a:solidFill>
              <a:schemeClr val="tx2"/>
            </a:solidFill>
            <a:prstDash val="solid"/>
          </a:ln>
        </p:spPr>
      </p:sp>
      <p:sp>
        <p:nvSpPr>
          <p:cNvPr id="7" name="why 2 number"/>
          <p:cNvSpPr txBox="1"/>
          <p:nvPr/>
        </p:nvSpPr>
        <p:spPr>
          <a:xfrm>
            <a:off x="548640" y="2395728"/>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8" name="why 2 text"/>
          <p:cNvSpPr txBox="1"/>
          <p:nvPr/>
        </p:nvSpPr>
        <p:spPr>
          <a:xfrm>
            <a:off x="1280160" y="2304288"/>
            <a:ext cx="5303520" cy="777240"/>
          </a:xfrm>
          <a:prstGeom prst="rect">
            <a:avLst/>
          </a:prstGeom>
          <a:noFill/>
          <a:ln/>
        </p:spPr>
        <p:txBody>
          <a:bodyPr wrap="square" lIns="0" tIns="0" rIns="0" bIns="0" rtlCol="0" anchor="ctr"/>
          <a:lstStyle/>
          <a:p>
            <a:pPr indent="0" marL="0">
              <a:buNone/>
            </a:pPr>
            <a:r>
              <a:rPr lang="en-US" sz="1500" dirty="0">
                <a:solidFill>
                  <a:schemeClr val="tx1"/>
                </a:solidFill>
              </a:rPr>
              <a:t>Why didn't the CRM flag it? It only knows what someone types in.</a:t>
            </a:r>
            <a:endParaRPr lang="en-US" sz="1500" dirty="0"/>
          </a:p>
        </p:txBody>
      </p:sp>
      <p:sp>
        <p:nvSpPr>
          <p:cNvPr id="9" name="why 3 circle"/>
          <p:cNvSpPr/>
          <p:nvPr/>
        </p:nvSpPr>
        <p:spPr>
          <a:xfrm>
            <a:off x="548640" y="3328416"/>
            <a:ext cx="548640" cy="548640"/>
          </a:xfrm>
          <a:prstGeom prst="ellipse">
            <a:avLst/>
          </a:prstGeom>
          <a:solidFill>
            <a:schemeClr val="tx2"/>
          </a:solidFill>
          <a:ln w="12700">
            <a:solidFill>
              <a:schemeClr val="tx2"/>
            </a:solidFill>
            <a:prstDash val="solid"/>
          </a:ln>
        </p:spPr>
      </p:sp>
      <p:sp>
        <p:nvSpPr>
          <p:cNvPr id="10" name="why 3 number"/>
          <p:cNvSpPr txBox="1"/>
          <p:nvPr/>
        </p:nvSpPr>
        <p:spPr>
          <a:xfrm>
            <a:off x="548640" y="3328416"/>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1" name="why 3 text"/>
          <p:cNvSpPr txBox="1"/>
          <p:nvPr/>
        </p:nvSpPr>
        <p:spPr>
          <a:xfrm>
            <a:off x="1280160" y="3236976"/>
            <a:ext cx="5303520" cy="777240"/>
          </a:xfrm>
          <a:prstGeom prst="rect">
            <a:avLst/>
          </a:prstGeom>
          <a:noFill/>
          <a:ln/>
        </p:spPr>
        <p:txBody>
          <a:bodyPr wrap="square" lIns="0" tIns="0" rIns="0" bIns="0" rtlCol="0" anchor="ctr"/>
          <a:lstStyle/>
          <a:p>
            <a:pPr indent="0" marL="0">
              <a:buNone/>
            </a:pPr>
            <a:r>
              <a:rPr lang="en-US" sz="1500" dirty="0">
                <a:solidFill>
                  <a:schemeClr val="tx1"/>
                </a:solidFill>
              </a:rPr>
              <a:t>Why isn't it updated? Updating is a separate step, done later at a laptop.</a:t>
            </a:r>
            <a:endParaRPr lang="en-US" sz="1500" dirty="0"/>
          </a:p>
        </p:txBody>
      </p:sp>
      <p:sp>
        <p:nvSpPr>
          <p:cNvPr id="12" name="why 4 circle"/>
          <p:cNvSpPr/>
          <p:nvPr/>
        </p:nvSpPr>
        <p:spPr>
          <a:xfrm>
            <a:off x="548640" y="4261104"/>
            <a:ext cx="548640" cy="548640"/>
          </a:xfrm>
          <a:prstGeom prst="ellipse">
            <a:avLst/>
          </a:prstGeom>
          <a:solidFill>
            <a:schemeClr val="tx2"/>
          </a:solidFill>
          <a:ln w="12700">
            <a:solidFill>
              <a:schemeClr val="tx2"/>
            </a:solidFill>
            <a:prstDash val="solid"/>
          </a:ln>
        </p:spPr>
      </p:sp>
      <p:sp>
        <p:nvSpPr>
          <p:cNvPr id="13" name="why 4 number"/>
          <p:cNvSpPr txBox="1"/>
          <p:nvPr/>
        </p:nvSpPr>
        <p:spPr>
          <a:xfrm>
            <a:off x="548640" y="4261104"/>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4" name="why 4 text"/>
          <p:cNvSpPr txBox="1"/>
          <p:nvPr/>
        </p:nvSpPr>
        <p:spPr>
          <a:xfrm>
            <a:off x="1280160" y="4169664"/>
            <a:ext cx="5303520" cy="777240"/>
          </a:xfrm>
          <a:prstGeom prst="rect">
            <a:avLst/>
          </a:prstGeom>
          <a:noFill/>
          <a:ln/>
        </p:spPr>
        <p:txBody>
          <a:bodyPr wrap="square" lIns="0" tIns="0" rIns="0" bIns="0" rtlCol="0" anchor="ctr"/>
          <a:lstStyle/>
          <a:p>
            <a:pPr indent="0" marL="0">
              <a:buNone/>
            </a:pPr>
            <a:r>
              <a:rPr lang="en-US" sz="1500" dirty="0">
                <a:solidFill>
                  <a:schemeClr val="tx1"/>
                </a:solidFill>
              </a:rPr>
              <a:t>Why didn't “update the CRM same day” work? Founders have no spare time. It failed in April and again in July.</a:t>
            </a:r>
            <a:endParaRPr lang="en-US" sz="1500" dirty="0"/>
          </a:p>
        </p:txBody>
      </p:sp>
      <p:sp>
        <p:nvSpPr>
          <p:cNvPr id="15" name="why 5 circle"/>
          <p:cNvSpPr/>
          <p:nvPr/>
        </p:nvSpPr>
        <p:spPr>
          <a:xfrm>
            <a:off x="548640" y="5193792"/>
            <a:ext cx="548640" cy="548640"/>
          </a:xfrm>
          <a:prstGeom prst="ellipse">
            <a:avLst/>
          </a:prstGeom>
          <a:solidFill>
            <a:schemeClr val="accent3"/>
          </a:solidFill>
          <a:ln w="12700">
            <a:solidFill>
              <a:schemeClr val="accent3"/>
            </a:solidFill>
            <a:prstDash val="solid"/>
          </a:ln>
        </p:spPr>
      </p:sp>
      <p:sp>
        <p:nvSpPr>
          <p:cNvPr id="16" name="why 5 number"/>
          <p:cNvSpPr txBox="1"/>
          <p:nvPr/>
        </p:nvSpPr>
        <p:spPr>
          <a:xfrm>
            <a:off x="548640" y="5193792"/>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7" name="why 5 text"/>
          <p:cNvSpPr txBox="1"/>
          <p:nvPr/>
        </p:nvSpPr>
        <p:spPr>
          <a:xfrm>
            <a:off x="1280160" y="5102352"/>
            <a:ext cx="5303520" cy="777240"/>
          </a:xfrm>
          <a:prstGeom prst="rect">
            <a:avLst/>
          </a:prstGeom>
          <a:noFill/>
          <a:ln/>
        </p:spPr>
        <p:txBody>
          <a:bodyPr wrap="square" lIns="0" tIns="0" rIns="0" bIns="0" rtlCol="0" anchor="ctr"/>
          <a:lstStyle/>
          <a:p>
            <a:pPr indent="0" marL="0">
              <a:buNone/>
            </a:pPr>
            <a:r>
              <a:rPr lang="en-US" sz="1500" dirty="0">
                <a:solidFill>
                  <a:schemeClr val="tx1"/>
                </a:solidFill>
              </a:rPr>
              <a:t>Why is there no safety net? The CRM is passive storage. It never reads email or reminds anyone.</a:t>
            </a:r>
            <a:endParaRPr lang="en-US" sz="1500" dirty="0"/>
          </a:p>
        </p:txBody>
      </p:sp>
      <p:sp>
        <p:nvSpPr>
          <p:cNvPr id="18" name="problem statement card"/>
          <p:cNvSpPr/>
          <p:nvPr/>
        </p:nvSpPr>
        <p:spPr>
          <a:xfrm>
            <a:off x="6949440" y="1371600"/>
            <a:ext cx="4690872" cy="4709160"/>
          </a:xfrm>
          <a:prstGeom prst="roundRect">
            <a:avLst>
              <a:gd name="adj" fmla="val 1559"/>
            </a:avLst>
          </a:prstGeom>
          <a:solidFill>
            <a:schemeClr val="tx2"/>
          </a:solidFill>
          <a:ln w="12700">
            <a:solidFill>
              <a:schemeClr val="tx2"/>
            </a:solidFill>
            <a:prstDash val="solid"/>
          </a:ln>
        </p:spPr>
      </p:sp>
      <p:sp>
        <p:nvSpPr>
          <p:cNvPr id="19" name="problem statement heading"/>
          <p:cNvSpPr txBox="1"/>
          <p:nvPr/>
        </p:nvSpPr>
        <p:spPr>
          <a:xfrm>
            <a:off x="7269480" y="1645920"/>
            <a:ext cx="4114800" cy="411480"/>
          </a:xfrm>
          <a:prstGeom prst="rect">
            <a:avLst/>
          </a:prstGeom>
          <a:noFill/>
          <a:ln/>
        </p:spPr>
        <p:txBody>
          <a:bodyPr wrap="square" lIns="0" tIns="0" rIns="0" bIns="0" rtlCol="0" anchor="t"/>
          <a:lstStyle/>
          <a:p>
            <a:pPr indent="0" marL="0">
              <a:buNone/>
            </a:pPr>
            <a:r>
              <a:rPr lang="en-US" sz="1800" b="1" dirty="0">
                <a:solidFill>
                  <a:schemeClr val="accent1"/>
                </a:solidFill>
              </a:rPr>
              <a:t>Problem statement</a:t>
            </a:r>
            <a:endParaRPr lang="en-US" sz="1800" dirty="0"/>
          </a:p>
        </p:txBody>
      </p:sp>
      <p:sp>
        <p:nvSpPr>
          <p:cNvPr id="20" name="problem statement text"/>
          <p:cNvSpPr txBox="1"/>
          <p:nvPr/>
        </p:nvSpPr>
        <p:spPr>
          <a:xfrm>
            <a:off x="7269480" y="2148840"/>
            <a:ext cx="4069080" cy="3657600"/>
          </a:xfrm>
          <a:prstGeom prst="rect">
            <a:avLst/>
          </a:prstGeom>
          <a:noFill/>
          <a:ln/>
        </p:spPr>
        <p:txBody>
          <a:bodyPr wrap="square" lIns="0" tIns="0" rIns="0" bIns="0" rtlCol="0" anchor="t"/>
          <a:lstStyle/>
          <a:p>
            <a:pPr indent="0" marL="0">
              <a:buNone/>
            </a:pPr>
            <a:r>
              <a:rPr lang="en-US" sz="2000" dirty="0">
                <a:solidFill>
                  <a:schemeClr val="bg1"/>
                </a:solidFill>
              </a:rPr>
              <a:t>AtliQ's founder-sellers need a way to capture and act on every sales conversation without extra effort. Today the CRM depends on them remembering and retyping what was said, so promises slip, referrals go cold, cross-sells go unnoticed and lost deals are never revisited.</a:t>
            </a:r>
            <a:endParaRPr lang="en-US" sz="20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We scored 16 ideas and chose five to build</a:t>
            </a:r>
            <a:endParaRPr lang="en-US" sz="3600" dirty="0"/>
          </a:p>
        </p:txBody>
      </p:sp>
      <p:sp>
        <p:nvSpPr>
          <p:cNvPr id="3" name="build heading"/>
          <p:cNvSpPr txBox="1"/>
          <p:nvPr/>
        </p:nvSpPr>
        <p:spPr>
          <a:xfrm>
            <a:off x="548640" y="1325880"/>
            <a:ext cx="5943600" cy="41148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Build now</a:t>
            </a:r>
            <a:endParaRPr lang="en-US" sz="2000" dirty="0"/>
          </a:p>
        </p:txBody>
      </p:sp>
      <p:sp>
        <p:nvSpPr>
          <p:cNvPr id="4" name="F1 card"/>
          <p:cNvSpPr/>
          <p:nvPr/>
        </p:nvSpPr>
        <p:spPr>
          <a:xfrm>
            <a:off x="548640" y="1828800"/>
            <a:ext cx="6309360" cy="749808"/>
          </a:xfrm>
          <a:prstGeom prst="roundRect">
            <a:avLst>
              <a:gd name="adj" fmla="val 9756"/>
            </a:avLst>
          </a:prstGeom>
          <a:solidFill>
            <a:schemeClr val="bg2"/>
          </a:solidFill>
          <a:ln w="12700">
            <a:solidFill>
              <a:schemeClr val="bg2"/>
            </a:solidFill>
            <a:prstDash val="solid"/>
          </a:ln>
        </p:spPr>
      </p:sp>
      <p:sp>
        <p:nvSpPr>
          <p:cNvPr id="5" name="F1 badge"/>
          <p:cNvSpPr/>
          <p:nvPr/>
        </p:nvSpPr>
        <p:spPr>
          <a:xfrm>
            <a:off x="713232" y="1947672"/>
            <a:ext cx="512064" cy="512064"/>
          </a:xfrm>
          <a:prstGeom prst="ellipse">
            <a:avLst/>
          </a:prstGeom>
          <a:solidFill>
            <a:schemeClr val="accent2"/>
          </a:solidFill>
          <a:ln w="12700">
            <a:solidFill>
              <a:schemeClr val="accent2"/>
            </a:solidFill>
            <a:prstDash val="solid"/>
          </a:ln>
        </p:spPr>
      </p:sp>
      <p:sp>
        <p:nvSpPr>
          <p:cNvPr id="6" name="F1 badge text"/>
          <p:cNvSpPr txBox="1"/>
          <p:nvPr/>
        </p:nvSpPr>
        <p:spPr>
          <a:xfrm>
            <a:off x="713232" y="1947672"/>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F1</a:t>
            </a:r>
            <a:endParaRPr lang="en-US" sz="1400" dirty="0"/>
          </a:p>
        </p:txBody>
      </p:sp>
      <p:sp>
        <p:nvSpPr>
          <p:cNvPr id="7" name="F1 text"/>
          <p:cNvSpPr txBox="1"/>
          <p:nvPr/>
        </p:nvSpPr>
        <p:spPr>
          <a:xfrm>
            <a:off x="1417320" y="1828800"/>
            <a:ext cx="5303520" cy="749808"/>
          </a:xfrm>
          <a:prstGeom prst="rect">
            <a:avLst/>
          </a:prstGeom>
          <a:noFill/>
          <a:ln/>
        </p:spPr>
        <p:txBody>
          <a:bodyPr wrap="square" lIns="0" tIns="0" rIns="0" bIns="0" rtlCol="0" anchor="ctr"/>
          <a:lstStyle/>
          <a:p>
            <a:pPr indent="0" marL="0">
              <a:buNone/>
            </a:pPr>
            <a:r>
              <a:rPr lang="en-US" sz="1400" b="1" dirty="0">
                <a:solidFill>
                  <a:schemeClr val="tx2"/>
                </a:solidFill>
              </a:rPr>
              <a:t>Lead catcher</a:t>
            </a:r>
            <a:endParaRPr lang="en-US" sz="1400" dirty="0"/>
          </a:p>
          <a:p>
            <a:pPr indent="0" marL="0">
              <a:buNone/>
            </a:pPr>
            <a:r>
              <a:rPr lang="en-US" sz="1400" dirty="0">
                <a:solidFill>
                  <a:schemeClr val="tx1"/>
                </a:solidFill>
              </a:rPr>
              <a:t>Spots new leads in email and drafts the CRM record</a:t>
            </a:r>
            <a:endParaRPr lang="en-US" sz="1400" dirty="0"/>
          </a:p>
        </p:txBody>
      </p:sp>
      <p:sp>
        <p:nvSpPr>
          <p:cNvPr id="8" name="F2 card"/>
          <p:cNvSpPr/>
          <p:nvPr/>
        </p:nvSpPr>
        <p:spPr>
          <a:xfrm>
            <a:off x="548640" y="2697480"/>
            <a:ext cx="6309360" cy="749808"/>
          </a:xfrm>
          <a:prstGeom prst="roundRect">
            <a:avLst>
              <a:gd name="adj" fmla="val 9756"/>
            </a:avLst>
          </a:prstGeom>
          <a:solidFill>
            <a:schemeClr val="bg2"/>
          </a:solidFill>
          <a:ln w="12700">
            <a:solidFill>
              <a:schemeClr val="bg2"/>
            </a:solidFill>
            <a:prstDash val="solid"/>
          </a:ln>
        </p:spPr>
      </p:sp>
      <p:sp>
        <p:nvSpPr>
          <p:cNvPr id="9" name="F2 badge"/>
          <p:cNvSpPr/>
          <p:nvPr/>
        </p:nvSpPr>
        <p:spPr>
          <a:xfrm>
            <a:off x="713232" y="2816352"/>
            <a:ext cx="512064" cy="512064"/>
          </a:xfrm>
          <a:prstGeom prst="ellipse">
            <a:avLst/>
          </a:prstGeom>
          <a:solidFill>
            <a:schemeClr val="accent2"/>
          </a:solidFill>
          <a:ln w="12700">
            <a:solidFill>
              <a:schemeClr val="accent2"/>
            </a:solidFill>
            <a:prstDash val="solid"/>
          </a:ln>
        </p:spPr>
      </p:sp>
      <p:sp>
        <p:nvSpPr>
          <p:cNvPr id="10" name="F2 badge text"/>
          <p:cNvSpPr txBox="1"/>
          <p:nvPr/>
        </p:nvSpPr>
        <p:spPr>
          <a:xfrm>
            <a:off x="713232" y="2816352"/>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F2</a:t>
            </a:r>
            <a:endParaRPr lang="en-US" sz="1400" dirty="0"/>
          </a:p>
        </p:txBody>
      </p:sp>
      <p:sp>
        <p:nvSpPr>
          <p:cNvPr id="11" name="F2 text"/>
          <p:cNvSpPr txBox="1"/>
          <p:nvPr/>
        </p:nvSpPr>
        <p:spPr>
          <a:xfrm>
            <a:off x="1417320" y="2697480"/>
            <a:ext cx="5303520" cy="749808"/>
          </a:xfrm>
          <a:prstGeom prst="rect">
            <a:avLst/>
          </a:prstGeom>
          <a:noFill/>
          <a:ln/>
        </p:spPr>
        <p:txBody>
          <a:bodyPr wrap="square" lIns="0" tIns="0" rIns="0" bIns="0" rtlCol="0" anchor="ctr"/>
          <a:lstStyle/>
          <a:p>
            <a:pPr indent="0" marL="0">
              <a:buNone/>
            </a:pPr>
            <a:r>
              <a:rPr lang="en-US" sz="1400" b="1" dirty="0">
                <a:solidFill>
                  <a:schemeClr val="tx2"/>
                </a:solidFill>
              </a:rPr>
              <a:t>Promise and deadline tracker</a:t>
            </a:r>
            <a:endParaRPr lang="en-US" sz="1400" dirty="0"/>
          </a:p>
          <a:p>
            <a:pPr indent="0" marL="0">
              <a:buNone/>
            </a:pPr>
            <a:r>
              <a:rPr lang="en-US" sz="1400" dirty="0">
                <a:solidFill>
                  <a:schemeClr val="tx1"/>
                </a:solidFill>
              </a:rPr>
              <a:t>Turns “by Friday” into a dated task with an owner</a:t>
            </a:r>
            <a:endParaRPr lang="en-US" sz="1400" dirty="0"/>
          </a:p>
        </p:txBody>
      </p:sp>
      <p:sp>
        <p:nvSpPr>
          <p:cNvPr id="12" name="F3 card"/>
          <p:cNvSpPr/>
          <p:nvPr/>
        </p:nvSpPr>
        <p:spPr>
          <a:xfrm>
            <a:off x="548640" y="3566160"/>
            <a:ext cx="6309360" cy="749808"/>
          </a:xfrm>
          <a:prstGeom prst="roundRect">
            <a:avLst>
              <a:gd name="adj" fmla="val 9756"/>
            </a:avLst>
          </a:prstGeom>
          <a:solidFill>
            <a:schemeClr val="bg2"/>
          </a:solidFill>
          <a:ln w="12700">
            <a:solidFill>
              <a:schemeClr val="bg2"/>
            </a:solidFill>
            <a:prstDash val="solid"/>
          </a:ln>
        </p:spPr>
      </p:sp>
      <p:sp>
        <p:nvSpPr>
          <p:cNvPr id="13" name="F3 badge"/>
          <p:cNvSpPr/>
          <p:nvPr/>
        </p:nvSpPr>
        <p:spPr>
          <a:xfrm>
            <a:off x="713232" y="3685032"/>
            <a:ext cx="512064" cy="512064"/>
          </a:xfrm>
          <a:prstGeom prst="ellipse">
            <a:avLst/>
          </a:prstGeom>
          <a:solidFill>
            <a:schemeClr val="accent2"/>
          </a:solidFill>
          <a:ln w="12700">
            <a:solidFill>
              <a:schemeClr val="accent2"/>
            </a:solidFill>
            <a:prstDash val="solid"/>
          </a:ln>
        </p:spPr>
      </p:sp>
      <p:sp>
        <p:nvSpPr>
          <p:cNvPr id="14" name="F3 badge text"/>
          <p:cNvSpPr txBox="1"/>
          <p:nvPr/>
        </p:nvSpPr>
        <p:spPr>
          <a:xfrm>
            <a:off x="713232" y="3685032"/>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F3</a:t>
            </a:r>
            <a:endParaRPr lang="en-US" sz="1400" dirty="0"/>
          </a:p>
        </p:txBody>
      </p:sp>
      <p:sp>
        <p:nvSpPr>
          <p:cNvPr id="15" name="F3 text"/>
          <p:cNvSpPr txBox="1"/>
          <p:nvPr/>
        </p:nvSpPr>
        <p:spPr>
          <a:xfrm>
            <a:off x="1417320" y="3566160"/>
            <a:ext cx="5303520" cy="749808"/>
          </a:xfrm>
          <a:prstGeom prst="rect">
            <a:avLst/>
          </a:prstGeom>
          <a:noFill/>
          <a:ln/>
        </p:spPr>
        <p:txBody>
          <a:bodyPr wrap="square" lIns="0" tIns="0" rIns="0" bIns="0" rtlCol="0" anchor="ctr"/>
          <a:lstStyle/>
          <a:p>
            <a:pPr indent="0" marL="0">
              <a:buNone/>
            </a:pPr>
            <a:r>
              <a:rPr lang="en-US" sz="1400" b="1" dirty="0">
                <a:solidFill>
                  <a:schemeClr val="tx2"/>
                </a:solidFill>
              </a:rPr>
              <a:t>Waiting-on-us radar</a:t>
            </a:r>
            <a:endParaRPr lang="en-US" sz="1400" dirty="0"/>
          </a:p>
          <a:p>
            <a:pPr indent="0" marL="0">
              <a:buNone/>
            </a:pPr>
            <a:r>
              <a:rPr lang="en-US" sz="1400" dirty="0">
                <a:solidFill>
                  <a:schemeClr val="tx1"/>
                </a:solidFill>
              </a:rPr>
              <a:t>Flags unanswered client emails and fixes stale statuses</a:t>
            </a:r>
            <a:endParaRPr lang="en-US" sz="1400" dirty="0"/>
          </a:p>
        </p:txBody>
      </p:sp>
      <p:sp>
        <p:nvSpPr>
          <p:cNvPr id="16" name="F4 card"/>
          <p:cNvSpPr/>
          <p:nvPr/>
        </p:nvSpPr>
        <p:spPr>
          <a:xfrm>
            <a:off x="548640" y="4434840"/>
            <a:ext cx="6309360" cy="749808"/>
          </a:xfrm>
          <a:prstGeom prst="roundRect">
            <a:avLst>
              <a:gd name="adj" fmla="val 9756"/>
            </a:avLst>
          </a:prstGeom>
          <a:solidFill>
            <a:schemeClr val="bg2"/>
          </a:solidFill>
          <a:ln w="12700">
            <a:solidFill>
              <a:schemeClr val="bg2"/>
            </a:solidFill>
            <a:prstDash val="solid"/>
          </a:ln>
        </p:spPr>
      </p:sp>
      <p:sp>
        <p:nvSpPr>
          <p:cNvPr id="17" name="F4 badge"/>
          <p:cNvSpPr/>
          <p:nvPr/>
        </p:nvSpPr>
        <p:spPr>
          <a:xfrm>
            <a:off x="713232" y="4553712"/>
            <a:ext cx="512064" cy="512064"/>
          </a:xfrm>
          <a:prstGeom prst="ellipse">
            <a:avLst/>
          </a:prstGeom>
          <a:solidFill>
            <a:schemeClr val="accent2"/>
          </a:solidFill>
          <a:ln w="12700">
            <a:solidFill>
              <a:schemeClr val="accent2"/>
            </a:solidFill>
            <a:prstDash val="solid"/>
          </a:ln>
        </p:spPr>
      </p:sp>
      <p:sp>
        <p:nvSpPr>
          <p:cNvPr id="18" name="F4 badge text"/>
          <p:cNvSpPr txBox="1"/>
          <p:nvPr/>
        </p:nvSpPr>
        <p:spPr>
          <a:xfrm>
            <a:off x="713232" y="4553712"/>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F4</a:t>
            </a:r>
            <a:endParaRPr lang="en-US" sz="1400" dirty="0"/>
          </a:p>
        </p:txBody>
      </p:sp>
      <p:sp>
        <p:nvSpPr>
          <p:cNvPr id="19" name="F4 text"/>
          <p:cNvSpPr txBox="1"/>
          <p:nvPr/>
        </p:nvSpPr>
        <p:spPr>
          <a:xfrm>
            <a:off x="1417320" y="4434840"/>
            <a:ext cx="5303520" cy="749808"/>
          </a:xfrm>
          <a:prstGeom prst="rect">
            <a:avLst/>
          </a:prstGeom>
          <a:noFill/>
          <a:ln/>
        </p:spPr>
        <p:txBody>
          <a:bodyPr wrap="square" lIns="0" tIns="0" rIns="0" bIns="0" rtlCol="0" anchor="ctr"/>
          <a:lstStyle/>
          <a:p>
            <a:pPr indent="0" marL="0">
              <a:buNone/>
            </a:pPr>
            <a:r>
              <a:rPr lang="en-US" sz="1400" b="1" dirty="0">
                <a:solidFill>
                  <a:schemeClr val="tx2"/>
                </a:solidFill>
              </a:rPr>
              <a:t>Cross-sell and revisit spotter</a:t>
            </a:r>
            <a:endParaRPr lang="en-US" sz="1400" dirty="0"/>
          </a:p>
          <a:p>
            <a:pPr indent="0" marL="0">
              <a:buNone/>
            </a:pPr>
            <a:r>
              <a:rPr lang="en-US" sz="1400" dirty="0">
                <a:solidFill>
                  <a:schemeClr val="tx1"/>
                </a:solidFill>
              </a:rPr>
              <a:t>Catches new needs and “try again later” dates</a:t>
            </a:r>
            <a:endParaRPr lang="en-US" sz="1400" dirty="0"/>
          </a:p>
        </p:txBody>
      </p:sp>
      <p:sp>
        <p:nvSpPr>
          <p:cNvPr id="20" name="F5 card"/>
          <p:cNvSpPr/>
          <p:nvPr/>
        </p:nvSpPr>
        <p:spPr>
          <a:xfrm>
            <a:off x="548640" y="5303520"/>
            <a:ext cx="6309360" cy="749808"/>
          </a:xfrm>
          <a:prstGeom prst="roundRect">
            <a:avLst>
              <a:gd name="adj" fmla="val 9756"/>
            </a:avLst>
          </a:prstGeom>
          <a:solidFill>
            <a:schemeClr val="bg2"/>
          </a:solidFill>
          <a:ln w="12700">
            <a:solidFill>
              <a:schemeClr val="bg2"/>
            </a:solidFill>
            <a:prstDash val="solid"/>
          </a:ln>
        </p:spPr>
      </p:sp>
      <p:sp>
        <p:nvSpPr>
          <p:cNvPr id="21" name="F5 badge"/>
          <p:cNvSpPr/>
          <p:nvPr/>
        </p:nvSpPr>
        <p:spPr>
          <a:xfrm>
            <a:off x="713232" y="5422392"/>
            <a:ext cx="512064" cy="512064"/>
          </a:xfrm>
          <a:prstGeom prst="ellipse">
            <a:avLst/>
          </a:prstGeom>
          <a:solidFill>
            <a:schemeClr val="accent2"/>
          </a:solidFill>
          <a:ln w="12700">
            <a:solidFill>
              <a:schemeClr val="accent2"/>
            </a:solidFill>
            <a:prstDash val="solid"/>
          </a:ln>
        </p:spPr>
      </p:sp>
      <p:sp>
        <p:nvSpPr>
          <p:cNvPr id="22" name="F5 badge text"/>
          <p:cNvSpPr txBox="1"/>
          <p:nvPr/>
        </p:nvSpPr>
        <p:spPr>
          <a:xfrm>
            <a:off x="713232" y="5422392"/>
            <a:ext cx="512064" cy="512064"/>
          </a:xfrm>
          <a:prstGeom prst="rect">
            <a:avLst/>
          </a:prstGeom>
          <a:noFill/>
          <a:ln/>
        </p:spPr>
        <p:txBody>
          <a:bodyPr wrap="square" lIns="0" tIns="0" rIns="0" bIns="0" rtlCol="0" anchor="ctr"/>
          <a:lstStyle/>
          <a:p>
            <a:pPr algn="ctr" indent="0" marL="0">
              <a:buNone/>
            </a:pPr>
            <a:r>
              <a:rPr lang="en-US" sz="1400" b="1" dirty="0">
                <a:solidFill>
                  <a:schemeClr val="bg1"/>
                </a:solidFill>
              </a:rPr>
              <a:t>F5</a:t>
            </a:r>
            <a:endParaRPr lang="en-US" sz="1400" dirty="0"/>
          </a:p>
        </p:txBody>
      </p:sp>
      <p:sp>
        <p:nvSpPr>
          <p:cNvPr id="23" name="F5 text"/>
          <p:cNvSpPr txBox="1"/>
          <p:nvPr/>
        </p:nvSpPr>
        <p:spPr>
          <a:xfrm>
            <a:off x="1417320" y="5303520"/>
            <a:ext cx="5303520" cy="749808"/>
          </a:xfrm>
          <a:prstGeom prst="rect">
            <a:avLst/>
          </a:prstGeom>
          <a:noFill/>
          <a:ln/>
        </p:spPr>
        <p:txBody>
          <a:bodyPr wrap="square" lIns="0" tIns="0" rIns="0" bIns="0" rtlCol="0" anchor="ctr"/>
          <a:lstStyle/>
          <a:p>
            <a:pPr indent="0" marL="0">
              <a:buNone/>
            </a:pPr>
            <a:r>
              <a:rPr lang="en-US" sz="1400" b="1" dirty="0">
                <a:solidFill>
                  <a:schemeClr val="tx2"/>
                </a:solidFill>
              </a:rPr>
              <a:t>Daily brief with draft replies</a:t>
            </a:r>
            <a:endParaRPr lang="en-US" sz="1400" dirty="0"/>
          </a:p>
          <a:p>
            <a:pPr indent="0" marL="0">
              <a:buNone/>
            </a:pPr>
            <a:r>
              <a:rPr lang="en-US" sz="1400" dirty="0">
                <a:solidFill>
                  <a:schemeClr val="tx1"/>
                </a:solidFill>
              </a:rPr>
              <a:t>One short list each morning; a person sends</a:t>
            </a:r>
            <a:endParaRPr lang="en-US" sz="1400" dirty="0"/>
          </a:p>
        </p:txBody>
      </p:sp>
      <p:sp>
        <p:nvSpPr>
          <p:cNvPr id="24" name="Park for version 2 heading"/>
          <p:cNvSpPr txBox="1"/>
          <p:nvPr/>
        </p:nvSpPr>
        <p:spPr>
          <a:xfrm>
            <a:off x="7223760" y="1325880"/>
            <a:ext cx="4389120" cy="41148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Park for version 2</a:t>
            </a:r>
            <a:endParaRPr lang="en-US" sz="2000" dirty="0"/>
          </a:p>
        </p:txBody>
      </p:sp>
      <p:sp>
        <p:nvSpPr>
          <p:cNvPr id="25" name="Park for version 2 list"/>
          <p:cNvSpPr txBox="1"/>
          <p:nvPr/>
        </p:nvSpPr>
        <p:spPr>
          <a:xfrm>
            <a:off x="7223760" y="1783080"/>
            <a:ext cx="4416552" cy="1828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Business card and voice note capture: no samples to test with</a:t>
            </a:r>
            <a:endParaRPr lang="en-US" sz="1400" dirty="0"/>
          </a:p>
          <a:p>
            <a:pPr marL="177800" indent="-177800">
              <a:spcAft>
                <a:spcPts val="600"/>
              </a:spcAft>
              <a:buSzPct val="100000"/>
              <a:buChar char="•"/>
            </a:pPr>
            <a:r>
              <a:rPr lang="en-US" sz="1400" dirty="0">
                <a:solidFill>
                  <a:schemeClr val="tx1"/>
                </a:solidFill>
              </a:rPr>
              <a:t>Proposal and questionnaire writer: a wrong answer is a legal risk</a:t>
            </a:r>
            <a:endParaRPr lang="en-US" sz="1400" dirty="0"/>
          </a:p>
          <a:p>
            <a:pPr marL="177800" indent="-177800">
              <a:spcAft>
                <a:spcPts val="600"/>
              </a:spcAft>
              <a:buSzPct val="100000"/>
              <a:buChar char="•"/>
            </a:pPr>
            <a:r>
              <a:rPr lang="en-US" sz="1400" dirty="0">
                <a:solidFill>
                  <a:schemeClr val="tx1"/>
                </a:solidFill>
              </a:rPr>
              <a:t>Objection helper: needs a case-study library first</a:t>
            </a:r>
            <a:endParaRPr lang="en-US" sz="1400" dirty="0"/>
          </a:p>
        </p:txBody>
      </p:sp>
      <p:sp>
        <p:nvSpPr>
          <p:cNvPr id="26" name="Don&amp;apos;t build heading"/>
          <p:cNvSpPr txBox="1"/>
          <p:nvPr/>
        </p:nvSpPr>
        <p:spPr>
          <a:xfrm>
            <a:off x="7223760" y="3749040"/>
            <a:ext cx="4389120" cy="41148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Don't build</a:t>
            </a:r>
            <a:endParaRPr lang="en-US" sz="2000" dirty="0"/>
          </a:p>
        </p:txBody>
      </p:sp>
      <p:sp>
        <p:nvSpPr>
          <p:cNvPr id="27" name="Don't build list"/>
          <p:cNvSpPr txBox="1"/>
          <p:nvPr/>
        </p:nvSpPr>
        <p:spPr>
          <a:xfrm>
            <a:off x="7223760" y="4206240"/>
            <a:ext cx="4416552" cy="18288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Win-probability score: 40 records is too little history</a:t>
            </a:r>
            <a:endParaRPr lang="en-US" sz="1400" dirty="0"/>
          </a:p>
          <a:p>
            <a:pPr marL="177800" indent="-177800">
              <a:spcAft>
                <a:spcPts val="600"/>
              </a:spcAft>
              <a:buSzPct val="100000"/>
              <a:buChar char="•"/>
            </a:pPr>
            <a:r>
              <a:rPr lang="en-US" sz="1400" dirty="0">
                <a:solidFill>
                  <a:schemeClr val="tx1"/>
                </a:solidFill>
              </a:rPr>
              <a:t>AI that emails clients itself: one wrong email costs a deal</a:t>
            </a:r>
            <a:endParaRPr lang="en-US" sz="1400" dirty="0"/>
          </a:p>
          <a:p>
            <a:pPr marL="177800" indent="-177800">
              <a:spcAft>
                <a:spcPts val="600"/>
              </a:spcAft>
              <a:buSzPct val="100000"/>
              <a:buChar char="•"/>
            </a:pPr>
            <a:r>
              <a:rPr lang="en-US" sz="1400" dirty="0">
                <a:solidFill>
                  <a:schemeClr val="tx1"/>
                </a:solidFill>
              </a:rPr>
              <a:t>Meeting bot: consent and privacy, and many calls are by phone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How it works: AI reads, rules decide, people approve</a:t>
            </a:r>
            <a:endParaRPr lang="en-US" sz="3600" dirty="0"/>
          </a:p>
        </p:txBody>
      </p:sp>
      <p:sp>
        <p:nvSpPr>
          <p:cNvPr id="3" name="step Read circle"/>
          <p:cNvSpPr/>
          <p:nvPr/>
        </p:nvSpPr>
        <p:spPr>
          <a:xfrm>
            <a:off x="1417320" y="1417320"/>
            <a:ext cx="914400" cy="914400"/>
          </a:xfrm>
          <a:prstGeom prst="ellipse">
            <a:avLst/>
          </a:prstGeom>
          <a:solidFill>
            <a:schemeClr val="accent4"/>
          </a:solidFill>
          <a:ln w="12700">
            <a:solidFill>
              <a:schemeClr val="accent4"/>
            </a:solidFill>
            <a:prstDash val="solid"/>
          </a:ln>
        </p:spPr>
      </p:sp>
      <p:pic>
        <p:nvPicPr>
          <p:cNvPr id="4" name="step Read icon" descr="preencoded.png">    </p:cNvPr>
          <p:cNvPicPr>
            <a:picLocks noChangeAspect="1"/>
          </p:cNvPicPr>
          <p:nvPr/>
        </p:nvPicPr>
        <p:blipFill>
          <a:blip r:embed="rId1"/>
          <a:stretch>
            <a:fillRect/>
          </a:stretch>
        </p:blipFill>
        <p:spPr>
          <a:xfrm>
            <a:off x="1645920" y="1645920"/>
            <a:ext cx="457200" cy="457200"/>
          </a:xfrm>
          <a:prstGeom prst="rect">
            <a:avLst/>
          </a:prstGeom>
        </p:spPr>
      </p:pic>
      <p:sp>
        <p:nvSpPr>
          <p:cNvPr id="5" name="arrow 1"/>
          <p:cNvSpPr/>
          <p:nvPr/>
        </p:nvSpPr>
        <p:spPr>
          <a:xfrm>
            <a:off x="2724912" y="1719072"/>
            <a:ext cx="457200" cy="310896"/>
          </a:xfrm>
          <a:prstGeom prst="rightArrow">
            <a:avLst/>
          </a:prstGeom>
          <a:solidFill>
            <a:schemeClr val="accent5"/>
          </a:solidFill>
          <a:ln w="12700">
            <a:solidFill>
              <a:schemeClr val="accent5"/>
            </a:solidFill>
            <a:prstDash val="solid"/>
          </a:ln>
        </p:spPr>
      </p:sp>
      <p:sp>
        <p:nvSpPr>
          <p:cNvPr id="6" name="step Read heading"/>
          <p:cNvSpPr txBox="1"/>
          <p:nvPr/>
        </p:nvSpPr>
        <p:spPr>
          <a:xfrm>
            <a:off x="548640" y="2514600"/>
            <a:ext cx="2651760" cy="45720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1. Read</a:t>
            </a:r>
            <a:endParaRPr lang="en-US" sz="2200" dirty="0"/>
          </a:p>
        </p:txBody>
      </p:sp>
      <p:sp>
        <p:nvSpPr>
          <p:cNvPr id="7" name="step Read card"/>
          <p:cNvSpPr/>
          <p:nvPr/>
        </p:nvSpPr>
        <p:spPr>
          <a:xfrm>
            <a:off x="548640" y="3063240"/>
            <a:ext cx="2651760" cy="2514600"/>
          </a:xfrm>
          <a:prstGeom prst="roundRect">
            <a:avLst>
              <a:gd name="adj" fmla="val 2909"/>
            </a:avLst>
          </a:prstGeom>
          <a:solidFill>
            <a:schemeClr val="bg2"/>
          </a:solidFill>
          <a:ln w="12700">
            <a:solidFill>
              <a:schemeClr val="bg2"/>
            </a:solidFill>
            <a:prstDash val="solid"/>
          </a:ln>
        </p:spPr>
      </p:sp>
      <p:sp>
        <p:nvSpPr>
          <p:cNvPr id="8" name="step Read body"/>
          <p:cNvSpPr txBox="1"/>
          <p:nvPr/>
        </p:nvSpPr>
        <p:spPr>
          <a:xfrm>
            <a:off x="731520" y="3200400"/>
            <a:ext cx="2286000" cy="2286000"/>
          </a:xfrm>
          <a:prstGeom prst="rect">
            <a:avLst/>
          </a:prstGeom>
          <a:noFill/>
          <a:ln/>
        </p:spPr>
        <p:txBody>
          <a:bodyPr wrap="square" lIns="0" tIns="0" rIns="0" bIns="0" rtlCol="0" anchor="t"/>
          <a:lstStyle/>
          <a:p>
            <a:pPr indent="0" marL="0">
              <a:buNone/>
            </a:pPr>
            <a:r>
              <a:rPr lang="en-US" sz="1400" dirty="0">
                <a:solidFill>
                  <a:schemeClr val="tx1"/>
                </a:solidFill>
              </a:rPr>
              <a:t>Claude Haiku 5.5 reads each email and note and lists promises, questions, deadlines and leads, each with the exact sentence it came from.</a:t>
            </a:r>
            <a:endParaRPr lang="en-US" sz="1400" dirty="0"/>
          </a:p>
        </p:txBody>
      </p:sp>
      <p:sp>
        <p:nvSpPr>
          <p:cNvPr id="9" name="step Verify circle"/>
          <p:cNvSpPr/>
          <p:nvPr/>
        </p:nvSpPr>
        <p:spPr>
          <a:xfrm>
            <a:off x="4251960" y="1417320"/>
            <a:ext cx="914400" cy="914400"/>
          </a:xfrm>
          <a:prstGeom prst="ellipse">
            <a:avLst/>
          </a:prstGeom>
          <a:solidFill>
            <a:schemeClr val="accent2"/>
          </a:solidFill>
          <a:ln w="12700">
            <a:solidFill>
              <a:schemeClr val="accent2"/>
            </a:solidFill>
            <a:prstDash val="solid"/>
          </a:ln>
        </p:spPr>
      </p:sp>
      <p:pic>
        <p:nvPicPr>
          <p:cNvPr id="10" name="step Verify icon" descr="preencoded.png">    </p:cNvPr>
          <p:cNvPicPr>
            <a:picLocks noChangeAspect="1"/>
          </p:cNvPicPr>
          <p:nvPr/>
        </p:nvPicPr>
        <p:blipFill>
          <a:blip r:embed="rId2"/>
          <a:stretch>
            <a:fillRect/>
          </a:stretch>
        </p:blipFill>
        <p:spPr>
          <a:xfrm>
            <a:off x="4480560" y="1645920"/>
            <a:ext cx="457200" cy="457200"/>
          </a:xfrm>
          <a:prstGeom prst="rect">
            <a:avLst/>
          </a:prstGeom>
        </p:spPr>
      </p:pic>
      <p:sp>
        <p:nvSpPr>
          <p:cNvPr id="11" name="arrow 2"/>
          <p:cNvSpPr/>
          <p:nvPr/>
        </p:nvSpPr>
        <p:spPr>
          <a:xfrm>
            <a:off x="5559552" y="1719072"/>
            <a:ext cx="457200" cy="310896"/>
          </a:xfrm>
          <a:prstGeom prst="rightArrow">
            <a:avLst/>
          </a:prstGeom>
          <a:solidFill>
            <a:schemeClr val="accent5"/>
          </a:solidFill>
          <a:ln w="12700">
            <a:solidFill>
              <a:schemeClr val="accent5"/>
            </a:solidFill>
            <a:prstDash val="solid"/>
          </a:ln>
        </p:spPr>
      </p:sp>
      <p:sp>
        <p:nvSpPr>
          <p:cNvPr id="12" name="step Verify heading"/>
          <p:cNvSpPr txBox="1"/>
          <p:nvPr/>
        </p:nvSpPr>
        <p:spPr>
          <a:xfrm>
            <a:off x="3383280" y="2514600"/>
            <a:ext cx="2651760" cy="45720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2. Verify</a:t>
            </a:r>
            <a:endParaRPr lang="en-US" sz="2200" dirty="0"/>
          </a:p>
        </p:txBody>
      </p:sp>
      <p:sp>
        <p:nvSpPr>
          <p:cNvPr id="13" name="step Verify card"/>
          <p:cNvSpPr/>
          <p:nvPr/>
        </p:nvSpPr>
        <p:spPr>
          <a:xfrm>
            <a:off x="3383280" y="3063240"/>
            <a:ext cx="2651760" cy="2514600"/>
          </a:xfrm>
          <a:prstGeom prst="roundRect">
            <a:avLst>
              <a:gd name="adj" fmla="val 2909"/>
            </a:avLst>
          </a:prstGeom>
          <a:solidFill>
            <a:schemeClr val="bg2"/>
          </a:solidFill>
          <a:ln w="12700">
            <a:solidFill>
              <a:schemeClr val="bg2"/>
            </a:solidFill>
            <a:prstDash val="solid"/>
          </a:ln>
        </p:spPr>
      </p:sp>
      <p:sp>
        <p:nvSpPr>
          <p:cNvPr id="14" name="step Verify body"/>
          <p:cNvSpPr txBox="1"/>
          <p:nvPr/>
        </p:nvSpPr>
        <p:spPr>
          <a:xfrm>
            <a:off x="3566160" y="3200400"/>
            <a:ext cx="2286000" cy="2286000"/>
          </a:xfrm>
          <a:prstGeom prst="rect">
            <a:avLst/>
          </a:prstGeom>
          <a:noFill/>
          <a:ln/>
        </p:spPr>
        <p:txBody>
          <a:bodyPr wrap="square" lIns="0" tIns="0" rIns="0" bIns="0" rtlCol="0" anchor="t"/>
          <a:lstStyle/>
          <a:p>
            <a:pPr indent="0" marL="0">
              <a:buNone/>
            </a:pPr>
            <a:r>
              <a:rPr lang="en-US" sz="1400" dirty="0">
                <a:solidFill>
                  <a:schemeClr val="tx1"/>
                </a:solidFill>
              </a:rPr>
              <a:t>A plain checker looks for every quote word-for-word in the source. No match means the item is hidden. Unknown values say “Not stated”.</a:t>
            </a:r>
            <a:endParaRPr lang="en-US" sz="1400" dirty="0"/>
          </a:p>
        </p:txBody>
      </p:sp>
      <p:sp>
        <p:nvSpPr>
          <p:cNvPr id="15" name="step Rank circle"/>
          <p:cNvSpPr/>
          <p:nvPr/>
        </p:nvSpPr>
        <p:spPr>
          <a:xfrm>
            <a:off x="7086600" y="1417320"/>
            <a:ext cx="914400" cy="914400"/>
          </a:xfrm>
          <a:prstGeom prst="ellipse">
            <a:avLst/>
          </a:prstGeom>
          <a:solidFill>
            <a:schemeClr val="accent1"/>
          </a:solidFill>
          <a:ln w="12700">
            <a:solidFill>
              <a:schemeClr val="accent1"/>
            </a:solidFill>
            <a:prstDash val="solid"/>
          </a:ln>
        </p:spPr>
      </p:sp>
      <p:pic>
        <p:nvPicPr>
          <p:cNvPr id="16" name="step Rank icon" descr="preencoded.png">    </p:cNvPr>
          <p:cNvPicPr>
            <a:picLocks noChangeAspect="1"/>
          </p:cNvPicPr>
          <p:nvPr/>
        </p:nvPicPr>
        <p:blipFill>
          <a:blip r:embed="rId3"/>
          <a:stretch>
            <a:fillRect/>
          </a:stretch>
        </p:blipFill>
        <p:spPr>
          <a:xfrm>
            <a:off x="7315200" y="1645920"/>
            <a:ext cx="457200" cy="457200"/>
          </a:xfrm>
          <a:prstGeom prst="rect">
            <a:avLst/>
          </a:prstGeom>
        </p:spPr>
      </p:pic>
      <p:sp>
        <p:nvSpPr>
          <p:cNvPr id="17" name="arrow 3"/>
          <p:cNvSpPr/>
          <p:nvPr/>
        </p:nvSpPr>
        <p:spPr>
          <a:xfrm>
            <a:off x="8394192" y="1719072"/>
            <a:ext cx="457200" cy="310896"/>
          </a:xfrm>
          <a:prstGeom prst="rightArrow">
            <a:avLst/>
          </a:prstGeom>
          <a:solidFill>
            <a:schemeClr val="accent5"/>
          </a:solidFill>
          <a:ln w="12700">
            <a:solidFill>
              <a:schemeClr val="accent5"/>
            </a:solidFill>
            <a:prstDash val="solid"/>
          </a:ln>
        </p:spPr>
      </p:sp>
      <p:sp>
        <p:nvSpPr>
          <p:cNvPr id="18" name="step Rank heading"/>
          <p:cNvSpPr txBox="1"/>
          <p:nvPr/>
        </p:nvSpPr>
        <p:spPr>
          <a:xfrm>
            <a:off x="6217920" y="2514600"/>
            <a:ext cx="2651760" cy="45720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3. Rank</a:t>
            </a:r>
            <a:endParaRPr lang="en-US" sz="2200" dirty="0"/>
          </a:p>
        </p:txBody>
      </p:sp>
      <p:sp>
        <p:nvSpPr>
          <p:cNvPr id="19" name="step Rank card"/>
          <p:cNvSpPr/>
          <p:nvPr/>
        </p:nvSpPr>
        <p:spPr>
          <a:xfrm>
            <a:off x="6217920" y="3063240"/>
            <a:ext cx="2651760" cy="2514600"/>
          </a:xfrm>
          <a:prstGeom prst="roundRect">
            <a:avLst>
              <a:gd name="adj" fmla="val 2909"/>
            </a:avLst>
          </a:prstGeom>
          <a:solidFill>
            <a:schemeClr val="bg2"/>
          </a:solidFill>
          <a:ln w="12700">
            <a:solidFill>
              <a:schemeClr val="bg2"/>
            </a:solidFill>
            <a:prstDash val="solid"/>
          </a:ln>
        </p:spPr>
      </p:sp>
      <p:sp>
        <p:nvSpPr>
          <p:cNvPr id="20" name="step Rank body"/>
          <p:cNvSpPr txBox="1"/>
          <p:nvPr/>
        </p:nvSpPr>
        <p:spPr>
          <a:xfrm>
            <a:off x="6400800" y="3200400"/>
            <a:ext cx="2286000" cy="2286000"/>
          </a:xfrm>
          <a:prstGeom prst="rect">
            <a:avLst/>
          </a:prstGeom>
          <a:noFill/>
          <a:ln/>
        </p:spPr>
        <p:txBody>
          <a:bodyPr wrap="square" lIns="0" tIns="0" rIns="0" bIns="0" rtlCol="0" anchor="t"/>
          <a:lstStyle/>
          <a:p>
            <a:pPr indent="0" marL="0">
              <a:buNone/>
            </a:pPr>
            <a:r>
              <a:rPr lang="en-US" sz="1400" dirty="0">
                <a:solidFill>
                  <a:schemeClr val="tx1"/>
                </a:solidFill>
              </a:rPr>
              <a:t>Simple rules set due dates (client questions: 2 working days) and order the list by days overdue, deadline and deal value. At most 7 per person.</a:t>
            </a:r>
            <a:endParaRPr lang="en-US" sz="1400" dirty="0"/>
          </a:p>
        </p:txBody>
      </p:sp>
      <p:sp>
        <p:nvSpPr>
          <p:cNvPr id="21" name="step Approve circle"/>
          <p:cNvSpPr/>
          <p:nvPr/>
        </p:nvSpPr>
        <p:spPr>
          <a:xfrm>
            <a:off x="9921240" y="1417320"/>
            <a:ext cx="914400" cy="914400"/>
          </a:xfrm>
          <a:prstGeom prst="ellipse">
            <a:avLst/>
          </a:prstGeom>
          <a:solidFill>
            <a:schemeClr val="tx2"/>
          </a:solidFill>
          <a:ln w="12700">
            <a:solidFill>
              <a:schemeClr val="tx2"/>
            </a:solidFill>
            <a:prstDash val="solid"/>
          </a:ln>
        </p:spPr>
      </p:sp>
      <p:pic>
        <p:nvPicPr>
          <p:cNvPr id="22" name="step Approve icon" descr="preencoded.png">    </p:cNvPr>
          <p:cNvPicPr>
            <a:picLocks noChangeAspect="1"/>
          </p:cNvPicPr>
          <p:nvPr/>
        </p:nvPicPr>
        <p:blipFill>
          <a:blip r:embed="rId4"/>
          <a:stretch>
            <a:fillRect/>
          </a:stretch>
        </p:blipFill>
        <p:spPr>
          <a:xfrm>
            <a:off x="10149840" y="1645920"/>
            <a:ext cx="457200" cy="457200"/>
          </a:xfrm>
          <a:prstGeom prst="rect">
            <a:avLst/>
          </a:prstGeom>
        </p:spPr>
      </p:pic>
      <p:sp>
        <p:nvSpPr>
          <p:cNvPr id="23" name="step Approve heading"/>
          <p:cNvSpPr txBox="1"/>
          <p:nvPr/>
        </p:nvSpPr>
        <p:spPr>
          <a:xfrm>
            <a:off x="9052560" y="2514600"/>
            <a:ext cx="2651760" cy="457200"/>
          </a:xfrm>
          <a:prstGeom prst="rect">
            <a:avLst/>
          </a:prstGeom>
          <a:noFill/>
          <a:ln/>
        </p:spPr>
        <p:txBody>
          <a:bodyPr wrap="square" lIns="0" tIns="0" rIns="0" bIns="0" rtlCol="0" anchor="t"/>
          <a:lstStyle/>
          <a:p>
            <a:pPr algn="ctr" indent="0" marL="0">
              <a:buNone/>
            </a:pPr>
            <a:r>
              <a:rPr lang="en-US" sz="2200" b="1" dirty="0">
                <a:solidFill>
                  <a:schemeClr val="tx2"/>
                </a:solidFill>
                <a:latin typeface="Cambria" pitchFamily="34" charset="0"/>
                <a:ea typeface="Cambria" pitchFamily="34" charset="-122"/>
                <a:cs typeface="Cambria" pitchFamily="34" charset="-120"/>
              </a:rPr>
              <a:t>4. Approve</a:t>
            </a:r>
            <a:endParaRPr lang="en-US" sz="2200" dirty="0"/>
          </a:p>
        </p:txBody>
      </p:sp>
      <p:sp>
        <p:nvSpPr>
          <p:cNvPr id="24" name="step Approve card"/>
          <p:cNvSpPr/>
          <p:nvPr/>
        </p:nvSpPr>
        <p:spPr>
          <a:xfrm>
            <a:off x="9052560" y="3063240"/>
            <a:ext cx="2651760" cy="2514600"/>
          </a:xfrm>
          <a:prstGeom prst="roundRect">
            <a:avLst>
              <a:gd name="adj" fmla="val 2909"/>
            </a:avLst>
          </a:prstGeom>
          <a:solidFill>
            <a:schemeClr val="bg2"/>
          </a:solidFill>
          <a:ln w="12700">
            <a:solidFill>
              <a:schemeClr val="bg2"/>
            </a:solidFill>
            <a:prstDash val="solid"/>
          </a:ln>
        </p:spPr>
      </p:sp>
      <p:sp>
        <p:nvSpPr>
          <p:cNvPr id="25" name="step Approve body"/>
          <p:cNvSpPr txBox="1"/>
          <p:nvPr/>
        </p:nvSpPr>
        <p:spPr>
          <a:xfrm>
            <a:off x="9235440" y="3200400"/>
            <a:ext cx="2286000" cy="2286000"/>
          </a:xfrm>
          <a:prstGeom prst="rect">
            <a:avLst/>
          </a:prstGeom>
          <a:noFill/>
          <a:ln/>
        </p:spPr>
        <p:txBody>
          <a:bodyPr wrap="square" lIns="0" tIns="0" rIns="0" bIns="0" rtlCol="0" anchor="t"/>
          <a:lstStyle/>
          <a:p>
            <a:pPr indent="0" marL="0">
              <a:buNone/>
            </a:pPr>
            <a:r>
              <a:rPr lang="en-US" sz="1400" dirty="0">
                <a:solidFill>
                  <a:schemeClr val="tx1"/>
                </a:solidFill>
              </a:rPr>
              <a:t>Claude Sonnet 5.5 drafts replies. A person edits and sends them, and approves every CRM change. Every click is logged.</a:t>
            </a:r>
            <a:endParaRPr lang="en-US" sz="1400" dirty="0"/>
          </a:p>
        </p:txBody>
      </p:sp>
      <p:sp>
        <p:nvSpPr>
          <p:cNvPr id="26" name="split note"/>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400" b="1" dirty="0">
                <a:solidFill>
                  <a:schemeClr val="tx2"/>
                </a:solidFill>
              </a:rPr>
              <a:t>Why this split: </a:t>
            </a:r>
            <a:pPr indent="0" marL="0">
              <a:buNone/>
            </a:pPr>
            <a:r>
              <a:rPr lang="en-US" sz="1400" dirty="0">
                <a:solidFill>
                  <a:schemeClr val="tx1"/>
                </a:solidFill>
              </a:rPr>
              <a:t>AI does the reading, which it is good at. The decisions that must be predictable and explainable (what is due, what comes first) stay in plain rules anyone can check.</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Walkthrough: each founder's daily brief</a:t>
            </a:r>
            <a:endParaRPr lang="en-US" sz="3600" dirty="0"/>
          </a:p>
        </p:txBody>
      </p:sp>
      <p:sp>
        <p:nvSpPr>
          <p:cNvPr id="3" name="screenshot frame"/>
          <p:cNvSpPr/>
          <p:nvPr/>
        </p:nvSpPr>
        <p:spPr>
          <a:xfrm>
            <a:off x="548640" y="1325880"/>
            <a:ext cx="6766560" cy="4757738"/>
          </a:xfrm>
          <a:prstGeom prst="rect">
            <a:avLst/>
          </a:prstGeom>
          <a:solidFill>
            <a:schemeClr val="bg1"/>
          </a:solidFill>
          <a:ln w="9525">
            <a:solidFill>
              <a:srgbClr val="6B7385"/>
            </a:solidFill>
            <a:prstDash val="solid"/>
          </a:ln>
          <a:effectLst>
            <a:outerShdw sx="100000" sy="100000" kx="0" ky="0" algn="bl" rotWithShape="0" blurRad="76200" dist="25400" dir="5400000">
              <a:srgbClr val="000000">
                <a:alpha val="18000"/>
              </a:srgbClr>
            </a:outerShdw>
          </a:effectLst>
        </p:spPr>
      </p:sp>
      <p:pic>
        <p:nvPicPr>
          <p:cNvPr id="4" name="app screenshot" descr="brief.png">    </p:cNvPr>
          <p:cNvPicPr>
            <a:picLocks noChangeAspect="1"/>
          </p:cNvPicPr>
          <p:nvPr/>
        </p:nvPicPr>
        <p:blipFill>
          <a:blip r:embed="rId1"/>
          <a:srcRect l="0" r="0" t="0" b="0"/>
          <a:stretch/>
        </p:blipFill>
        <p:spPr>
          <a:xfrm>
            <a:off x="548640" y="1325880"/>
            <a:ext cx="6766560" cy="4757738"/>
          </a:xfrm>
          <a:prstGeom prst="rect">
            <a:avLst/>
          </a:prstGeom>
        </p:spPr>
      </p:pic>
      <p:sp>
        <p:nvSpPr>
          <p:cNvPr id="5" name="point 1 badge"/>
          <p:cNvSpPr/>
          <p:nvPr/>
        </p:nvSpPr>
        <p:spPr>
          <a:xfrm>
            <a:off x="7680960" y="1325880"/>
            <a:ext cx="457200" cy="457200"/>
          </a:xfrm>
          <a:prstGeom prst="ellipse">
            <a:avLst/>
          </a:prstGeom>
          <a:solidFill>
            <a:schemeClr val="accent1"/>
          </a:solidFill>
          <a:ln w="12700">
            <a:solidFill>
              <a:schemeClr val="accent1"/>
            </a:solidFill>
            <a:prstDash val="solid"/>
          </a:ln>
        </p:spPr>
      </p:sp>
      <p:sp>
        <p:nvSpPr>
          <p:cNvPr id="6" name="point 1 number"/>
          <p:cNvSpPr txBox="1"/>
          <p:nvPr/>
        </p:nvSpPr>
        <p:spPr>
          <a:xfrm>
            <a:off x="7680960" y="13258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7" name="point 1 text"/>
          <p:cNvSpPr txBox="1"/>
          <p:nvPr/>
        </p:nvSpPr>
        <p:spPr>
          <a:xfrm>
            <a:off x="8321040" y="1307592"/>
            <a:ext cx="3319272" cy="877824"/>
          </a:xfrm>
          <a:prstGeom prst="rect">
            <a:avLst/>
          </a:prstGeom>
          <a:noFill/>
          <a:ln/>
        </p:spPr>
        <p:txBody>
          <a:bodyPr wrap="square" lIns="0" tIns="0" rIns="0" bIns="0" rtlCol="0" anchor="t"/>
          <a:lstStyle/>
          <a:p>
            <a:pPr indent="0" marL="0">
              <a:buNone/>
            </a:pPr>
            <a:r>
              <a:rPr lang="en-US" sz="1400" b="1" dirty="0">
                <a:solidFill>
                  <a:schemeClr val="tx2"/>
                </a:solidFill>
              </a:rPr>
              <a:t>Pick a person</a:t>
            </a:r>
            <a:endParaRPr lang="en-US" sz="1400" dirty="0"/>
          </a:p>
          <a:p>
            <a:pPr indent="0" marL="0">
              <a:buNone/>
            </a:pPr>
            <a:r>
              <a:rPr lang="en-US" sz="1400" dirty="0">
                <a:solidFill>
                  <a:schemeClr val="tx1"/>
                </a:solidFill>
              </a:rPr>
              <a:t>Bhavin, Dhaval, Karandeep or Jay. Each sees at most 7 items.</a:t>
            </a:r>
            <a:endParaRPr lang="en-US" sz="1400" dirty="0"/>
          </a:p>
        </p:txBody>
      </p:sp>
      <p:sp>
        <p:nvSpPr>
          <p:cNvPr id="8" name="point 2 badge"/>
          <p:cNvSpPr/>
          <p:nvPr/>
        </p:nvSpPr>
        <p:spPr>
          <a:xfrm>
            <a:off x="7680960" y="2295144"/>
            <a:ext cx="457200" cy="457200"/>
          </a:xfrm>
          <a:prstGeom prst="ellipse">
            <a:avLst/>
          </a:prstGeom>
          <a:solidFill>
            <a:schemeClr val="accent1"/>
          </a:solidFill>
          <a:ln w="12700">
            <a:solidFill>
              <a:schemeClr val="accent1"/>
            </a:solidFill>
            <a:prstDash val="solid"/>
          </a:ln>
        </p:spPr>
      </p:sp>
      <p:sp>
        <p:nvSpPr>
          <p:cNvPr id="9" name="point 2 number"/>
          <p:cNvSpPr txBox="1"/>
          <p:nvPr/>
        </p:nvSpPr>
        <p:spPr>
          <a:xfrm>
            <a:off x="7680960" y="2295144"/>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oint 2 text"/>
          <p:cNvSpPr txBox="1"/>
          <p:nvPr/>
        </p:nvSpPr>
        <p:spPr>
          <a:xfrm>
            <a:off x="8321040" y="2276856"/>
            <a:ext cx="3319272" cy="877824"/>
          </a:xfrm>
          <a:prstGeom prst="rect">
            <a:avLst/>
          </a:prstGeom>
          <a:noFill/>
          <a:ln/>
        </p:spPr>
        <p:txBody>
          <a:bodyPr wrap="square" lIns="0" tIns="0" rIns="0" bIns="0" rtlCol="0" anchor="t"/>
          <a:lstStyle/>
          <a:p>
            <a:pPr indent="0" marL="0">
              <a:buNone/>
            </a:pPr>
            <a:r>
              <a:rPr lang="en-US" sz="1400" b="1" dirty="0">
                <a:solidFill>
                  <a:schemeClr val="tx2"/>
                </a:solidFill>
              </a:rPr>
              <a:t>See why it's here</a:t>
            </a:r>
            <a:endParaRPr lang="en-US" sz="1400" dirty="0"/>
          </a:p>
          <a:p>
            <a:pPr indent="0" marL="0">
              <a:buNone/>
            </a:pPr>
            <a:r>
              <a:rPr lang="en-US" sz="1400" dirty="0">
                <a:solidFill>
                  <a:schemeClr val="tx1"/>
                </a:solidFill>
              </a:rPr>
              <a:t>Meridian: client waiting 24 days, deadline 15 July, USD 45k.</a:t>
            </a:r>
            <a:endParaRPr lang="en-US" sz="1400" dirty="0"/>
          </a:p>
        </p:txBody>
      </p:sp>
      <p:sp>
        <p:nvSpPr>
          <p:cNvPr id="11" name="point 3 badge"/>
          <p:cNvSpPr/>
          <p:nvPr/>
        </p:nvSpPr>
        <p:spPr>
          <a:xfrm>
            <a:off x="7680960" y="3264408"/>
            <a:ext cx="457200" cy="457200"/>
          </a:xfrm>
          <a:prstGeom prst="ellipse">
            <a:avLst/>
          </a:prstGeom>
          <a:solidFill>
            <a:schemeClr val="accent1"/>
          </a:solidFill>
          <a:ln w="12700">
            <a:solidFill>
              <a:schemeClr val="accent1"/>
            </a:solidFill>
            <a:prstDash val="solid"/>
          </a:ln>
        </p:spPr>
      </p:sp>
      <p:sp>
        <p:nvSpPr>
          <p:cNvPr id="12" name="point 3 number"/>
          <p:cNvSpPr txBox="1"/>
          <p:nvPr/>
        </p:nvSpPr>
        <p:spPr>
          <a:xfrm>
            <a:off x="7680960" y="3264408"/>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3" name="point 3 text"/>
          <p:cNvSpPr txBox="1"/>
          <p:nvPr/>
        </p:nvSpPr>
        <p:spPr>
          <a:xfrm>
            <a:off x="8321040" y="3246120"/>
            <a:ext cx="3319272" cy="877824"/>
          </a:xfrm>
          <a:prstGeom prst="rect">
            <a:avLst/>
          </a:prstGeom>
          <a:noFill/>
          <a:ln/>
        </p:spPr>
        <p:txBody>
          <a:bodyPr wrap="square" lIns="0" tIns="0" rIns="0" bIns="0" rtlCol="0" anchor="t"/>
          <a:lstStyle/>
          <a:p>
            <a:pPr indent="0" marL="0">
              <a:buNone/>
            </a:pPr>
            <a:r>
              <a:rPr lang="en-US" sz="1400" b="1" dirty="0">
                <a:solidFill>
                  <a:schemeClr val="tx2"/>
                </a:solidFill>
              </a:rPr>
              <a:t>Check the source</a:t>
            </a:r>
            <a:endParaRPr lang="en-US" sz="1400" dirty="0"/>
          </a:p>
          <a:p>
            <a:pPr indent="0" marL="0">
              <a:buNone/>
            </a:pPr>
            <a:r>
              <a:rPr lang="en-US" sz="1400" dirty="0">
                <a:solidFill>
                  <a:schemeClr val="tx1"/>
                </a:solidFill>
              </a:rPr>
              <a:t>Every fact opens to the sentence it came from, marked verified.</a:t>
            </a:r>
            <a:endParaRPr lang="en-US" sz="1400" dirty="0"/>
          </a:p>
        </p:txBody>
      </p:sp>
      <p:sp>
        <p:nvSpPr>
          <p:cNvPr id="14" name="point 4 badge"/>
          <p:cNvSpPr/>
          <p:nvPr/>
        </p:nvSpPr>
        <p:spPr>
          <a:xfrm>
            <a:off x="7680960" y="4233672"/>
            <a:ext cx="457200" cy="457200"/>
          </a:xfrm>
          <a:prstGeom prst="ellipse">
            <a:avLst/>
          </a:prstGeom>
          <a:solidFill>
            <a:schemeClr val="accent1"/>
          </a:solidFill>
          <a:ln w="12700">
            <a:solidFill>
              <a:schemeClr val="accent1"/>
            </a:solidFill>
            <a:prstDash val="solid"/>
          </a:ln>
        </p:spPr>
      </p:sp>
      <p:sp>
        <p:nvSpPr>
          <p:cNvPr id="15" name="point 4 number"/>
          <p:cNvSpPr txBox="1"/>
          <p:nvPr/>
        </p:nvSpPr>
        <p:spPr>
          <a:xfrm>
            <a:off x="7680960" y="4233672"/>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6" name="point 4 text"/>
          <p:cNvSpPr txBox="1"/>
          <p:nvPr/>
        </p:nvSpPr>
        <p:spPr>
          <a:xfrm>
            <a:off x="8321040" y="4215384"/>
            <a:ext cx="3319272" cy="877824"/>
          </a:xfrm>
          <a:prstGeom prst="rect">
            <a:avLst/>
          </a:prstGeom>
          <a:noFill/>
          <a:ln/>
        </p:spPr>
        <p:txBody>
          <a:bodyPr wrap="square" lIns="0" tIns="0" rIns="0" bIns="0" rtlCol="0" anchor="t"/>
          <a:lstStyle/>
          <a:p>
            <a:pPr indent="0" marL="0">
              <a:buNone/>
            </a:pPr>
            <a:r>
              <a:rPr lang="en-US" sz="1400" b="1" dirty="0">
                <a:solidFill>
                  <a:schemeClr val="tx2"/>
                </a:solidFill>
              </a:rPr>
              <a:t>Send the reply yourself</a:t>
            </a:r>
            <a:endParaRPr lang="en-US" sz="1400" dirty="0"/>
          </a:p>
          <a:p>
            <a:pPr indent="0" marL="0">
              <a:buNone/>
            </a:pPr>
            <a:r>
              <a:rPr lang="en-US" sz="1400" dirty="0">
                <a:solidFill>
                  <a:schemeClr val="tx1"/>
                </a:solidFill>
              </a:rPr>
              <a:t>Edit the draft and copy it. Unknown facts stay as [brackets].</a:t>
            </a:r>
            <a:endParaRPr lang="en-US" sz="1400" dirty="0"/>
          </a:p>
        </p:txBody>
      </p:sp>
      <p:sp>
        <p:nvSpPr>
          <p:cNvPr id="17" name="point 5 badge"/>
          <p:cNvSpPr/>
          <p:nvPr/>
        </p:nvSpPr>
        <p:spPr>
          <a:xfrm>
            <a:off x="7680960" y="5202936"/>
            <a:ext cx="457200" cy="457200"/>
          </a:xfrm>
          <a:prstGeom prst="ellipse">
            <a:avLst/>
          </a:prstGeom>
          <a:solidFill>
            <a:schemeClr val="accent1"/>
          </a:solidFill>
          <a:ln w="12700">
            <a:solidFill>
              <a:schemeClr val="accent1"/>
            </a:solidFill>
            <a:prstDash val="solid"/>
          </a:ln>
        </p:spPr>
      </p:sp>
      <p:sp>
        <p:nvSpPr>
          <p:cNvPr id="18" name="point 5 number"/>
          <p:cNvSpPr txBox="1"/>
          <p:nvPr/>
        </p:nvSpPr>
        <p:spPr>
          <a:xfrm>
            <a:off x="7680960" y="5202936"/>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19" name="point 5 text"/>
          <p:cNvSpPr txBox="1"/>
          <p:nvPr/>
        </p:nvSpPr>
        <p:spPr>
          <a:xfrm>
            <a:off x="8321040" y="5184648"/>
            <a:ext cx="3319272" cy="877824"/>
          </a:xfrm>
          <a:prstGeom prst="rect">
            <a:avLst/>
          </a:prstGeom>
          <a:noFill/>
          <a:ln/>
        </p:spPr>
        <p:txBody>
          <a:bodyPr wrap="square" lIns="0" tIns="0" rIns="0" bIns="0" rtlCol="0" anchor="t"/>
          <a:lstStyle/>
          <a:p>
            <a:pPr indent="0" marL="0">
              <a:buNone/>
            </a:pPr>
            <a:r>
              <a:rPr lang="en-US" sz="1400" b="1" dirty="0">
                <a:solidFill>
                  <a:schemeClr val="tx2"/>
                </a:solidFill>
              </a:rPr>
              <a:t>Mark done, snooze or “not useful”</a:t>
            </a:r>
            <a:endParaRPr lang="en-US" sz="1400" dirty="0"/>
          </a:p>
          <a:p>
            <a:pPr indent="0" marL="0">
              <a:buNone/>
            </a:pPr>
            <a:r>
              <a:rPr lang="en-US" sz="1400" dirty="0">
                <a:solidFill>
                  <a:schemeClr val="tx1"/>
                </a:solidFill>
              </a:rPr>
              <a:t>Each choice is logged and tunes the list.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Walkthrough: CRM fixes need a person's click</a:t>
            </a:r>
            <a:endParaRPr lang="en-US" sz="3600" dirty="0"/>
          </a:p>
        </p:txBody>
      </p:sp>
      <p:sp>
        <p:nvSpPr>
          <p:cNvPr id="3" name="screenshot frame"/>
          <p:cNvSpPr/>
          <p:nvPr/>
        </p:nvSpPr>
        <p:spPr>
          <a:xfrm>
            <a:off x="548640" y="1325880"/>
            <a:ext cx="6766560" cy="4757738"/>
          </a:xfrm>
          <a:prstGeom prst="rect">
            <a:avLst/>
          </a:prstGeom>
          <a:solidFill>
            <a:schemeClr val="bg1"/>
          </a:solidFill>
          <a:ln w="9525">
            <a:solidFill>
              <a:srgbClr val="6B7385"/>
            </a:solidFill>
            <a:prstDash val="solid"/>
          </a:ln>
          <a:effectLst>
            <a:outerShdw sx="100000" sy="100000" kx="0" ky="0" algn="bl" rotWithShape="0" blurRad="76200" dist="25400" dir="5400000">
              <a:srgbClr val="000000">
                <a:alpha val="18000"/>
              </a:srgbClr>
            </a:outerShdw>
          </a:effectLst>
        </p:spPr>
      </p:sp>
      <p:pic>
        <p:nvPicPr>
          <p:cNvPr id="4" name="app screenshot" descr="crm-after.png">    </p:cNvPr>
          <p:cNvPicPr>
            <a:picLocks noChangeAspect="1"/>
          </p:cNvPicPr>
          <p:nvPr/>
        </p:nvPicPr>
        <p:blipFill>
          <a:blip r:embed="rId1"/>
          <a:srcRect l="0" r="0" t="0" b="0"/>
          <a:stretch/>
        </p:blipFill>
        <p:spPr>
          <a:xfrm>
            <a:off x="548640" y="1325880"/>
            <a:ext cx="6766560" cy="4757738"/>
          </a:xfrm>
          <a:prstGeom prst="rect">
            <a:avLst/>
          </a:prstGeom>
        </p:spPr>
      </p:pic>
      <p:sp>
        <p:nvSpPr>
          <p:cNvPr id="5" name="point 1 badge"/>
          <p:cNvSpPr/>
          <p:nvPr/>
        </p:nvSpPr>
        <p:spPr>
          <a:xfrm>
            <a:off x="7680960" y="1325880"/>
            <a:ext cx="457200" cy="457200"/>
          </a:xfrm>
          <a:prstGeom prst="ellipse">
            <a:avLst/>
          </a:prstGeom>
          <a:solidFill>
            <a:schemeClr val="accent1"/>
          </a:solidFill>
          <a:ln w="12700">
            <a:solidFill>
              <a:schemeClr val="accent1"/>
            </a:solidFill>
            <a:prstDash val="solid"/>
          </a:ln>
        </p:spPr>
      </p:sp>
      <p:sp>
        <p:nvSpPr>
          <p:cNvPr id="6" name="point 1 number"/>
          <p:cNvSpPr txBox="1"/>
          <p:nvPr/>
        </p:nvSpPr>
        <p:spPr>
          <a:xfrm>
            <a:off x="7680960" y="13258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7" name="point 1 text"/>
          <p:cNvSpPr txBox="1"/>
          <p:nvPr/>
        </p:nvSpPr>
        <p:spPr>
          <a:xfrm>
            <a:off x="8321040" y="1307592"/>
            <a:ext cx="3319272" cy="1120140"/>
          </a:xfrm>
          <a:prstGeom prst="rect">
            <a:avLst/>
          </a:prstGeom>
          <a:noFill/>
          <a:ln/>
        </p:spPr>
        <p:txBody>
          <a:bodyPr wrap="square" lIns="0" tIns="0" rIns="0" bIns="0" rtlCol="0" anchor="t"/>
          <a:lstStyle/>
          <a:p>
            <a:pPr indent="0" marL="0">
              <a:buNone/>
            </a:pPr>
            <a:r>
              <a:rPr lang="en-US" sz="1400" b="1" dirty="0">
                <a:solidFill>
                  <a:schemeClr val="tx2"/>
                </a:solidFill>
              </a:rPr>
              <a:t>Missing leads</a:t>
            </a:r>
            <a:endParaRPr lang="en-US" sz="1400" dirty="0"/>
          </a:p>
          <a:p>
            <a:pPr indent="0" marL="0">
              <a:buNone/>
            </a:pPr>
            <a:r>
              <a:rPr lang="en-US" sz="1400" dirty="0">
                <a:solidFill>
                  <a:schemeClr val="tx1"/>
                </a:solidFill>
              </a:rPr>
              <a:t>Harbor &amp; Finch, Lumino, PixelWorks, Nimbus and Ridgeline, drafted from their emails.</a:t>
            </a:r>
            <a:endParaRPr lang="en-US" sz="1400" dirty="0"/>
          </a:p>
        </p:txBody>
      </p:sp>
      <p:sp>
        <p:nvSpPr>
          <p:cNvPr id="8" name="point 2 badge"/>
          <p:cNvSpPr/>
          <p:nvPr/>
        </p:nvSpPr>
        <p:spPr>
          <a:xfrm>
            <a:off x="7680960" y="2537460"/>
            <a:ext cx="457200" cy="457200"/>
          </a:xfrm>
          <a:prstGeom prst="ellipse">
            <a:avLst/>
          </a:prstGeom>
          <a:solidFill>
            <a:schemeClr val="accent1"/>
          </a:solidFill>
          <a:ln w="12700">
            <a:solidFill>
              <a:schemeClr val="accent1"/>
            </a:solidFill>
            <a:prstDash val="solid"/>
          </a:ln>
        </p:spPr>
      </p:sp>
      <p:sp>
        <p:nvSpPr>
          <p:cNvPr id="9" name="point 2 number"/>
          <p:cNvSpPr txBox="1"/>
          <p:nvPr/>
        </p:nvSpPr>
        <p:spPr>
          <a:xfrm>
            <a:off x="7680960" y="253746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oint 2 text"/>
          <p:cNvSpPr txBox="1"/>
          <p:nvPr/>
        </p:nvSpPr>
        <p:spPr>
          <a:xfrm>
            <a:off x="8321040" y="2519172"/>
            <a:ext cx="3319272" cy="1120140"/>
          </a:xfrm>
          <a:prstGeom prst="rect">
            <a:avLst/>
          </a:prstGeom>
          <a:noFill/>
          <a:ln/>
        </p:spPr>
        <p:txBody>
          <a:bodyPr wrap="square" lIns="0" tIns="0" rIns="0" bIns="0" rtlCol="0" anchor="t"/>
          <a:lstStyle/>
          <a:p>
            <a:pPr indent="0" marL="0">
              <a:buNone/>
            </a:pPr>
            <a:r>
              <a:rPr lang="en-US" sz="1400" b="1" dirty="0">
                <a:solidFill>
                  <a:schemeClr val="tx2"/>
                </a:solidFill>
              </a:rPr>
              <a:t>Duplicates</a:t>
            </a:r>
            <a:endParaRPr lang="en-US" sz="1400" dirty="0"/>
          </a:p>
          <a:p>
            <a:pPr indent="0" marL="0">
              <a:buNone/>
            </a:pPr>
            <a:r>
              <a:rPr lang="en-US" sz="1400" dirty="0">
                <a:solidFill>
                  <a:schemeClr val="tx1"/>
                </a:solidFill>
              </a:rPr>
              <a:t>Meridian (L-1003 and L-1027) and GlobalMart are flagged, not merged.</a:t>
            </a:r>
            <a:endParaRPr lang="en-US" sz="1400" dirty="0"/>
          </a:p>
        </p:txBody>
      </p:sp>
      <p:sp>
        <p:nvSpPr>
          <p:cNvPr id="11" name="point 3 badge"/>
          <p:cNvSpPr/>
          <p:nvPr/>
        </p:nvSpPr>
        <p:spPr>
          <a:xfrm>
            <a:off x="7680960" y="3749040"/>
            <a:ext cx="457200" cy="457200"/>
          </a:xfrm>
          <a:prstGeom prst="ellipse">
            <a:avLst/>
          </a:prstGeom>
          <a:solidFill>
            <a:schemeClr val="accent1"/>
          </a:solidFill>
          <a:ln w="12700">
            <a:solidFill>
              <a:schemeClr val="accent1"/>
            </a:solidFill>
            <a:prstDash val="solid"/>
          </a:ln>
        </p:spPr>
      </p:sp>
      <p:sp>
        <p:nvSpPr>
          <p:cNvPr id="12" name="point 3 number"/>
          <p:cNvSpPr txBox="1"/>
          <p:nvPr/>
        </p:nvSpPr>
        <p:spPr>
          <a:xfrm>
            <a:off x="7680960" y="374904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3" name="point 3 text"/>
          <p:cNvSpPr txBox="1"/>
          <p:nvPr/>
        </p:nvSpPr>
        <p:spPr>
          <a:xfrm>
            <a:off x="8321040" y="3730752"/>
            <a:ext cx="3319272" cy="1120140"/>
          </a:xfrm>
          <a:prstGeom prst="rect">
            <a:avLst/>
          </a:prstGeom>
          <a:noFill/>
          <a:ln/>
        </p:spPr>
        <p:txBody>
          <a:bodyPr wrap="square" lIns="0" tIns="0" rIns="0" bIns="0" rtlCol="0" anchor="t"/>
          <a:lstStyle/>
          <a:p>
            <a:pPr indent="0" marL="0">
              <a:buNone/>
            </a:pPr>
            <a:r>
              <a:rPr lang="en-US" sz="1400" b="1" dirty="0">
                <a:solidFill>
                  <a:schemeClr val="tx2"/>
                </a:solidFill>
              </a:rPr>
              <a:t>Wrong statuses</a:t>
            </a:r>
            <a:endParaRPr lang="en-US" sz="1400" dirty="0"/>
          </a:p>
          <a:p>
            <a:pPr indent="0" marL="0">
              <a:buNone/>
            </a:pPr>
            <a:r>
              <a:rPr lang="en-US" sz="1400" dirty="0">
                <a:solidFill>
                  <a:schemeClr val="tx1"/>
                </a:solidFill>
              </a:rPr>
              <a:t>Trustline is won and Kaveri is live again, so status changes are suggested.</a:t>
            </a:r>
            <a:endParaRPr lang="en-US" sz="1400" dirty="0"/>
          </a:p>
        </p:txBody>
      </p:sp>
      <p:sp>
        <p:nvSpPr>
          <p:cNvPr id="14" name="point 4 badge"/>
          <p:cNvSpPr/>
          <p:nvPr/>
        </p:nvSpPr>
        <p:spPr>
          <a:xfrm>
            <a:off x="7680960" y="4960620"/>
            <a:ext cx="457200" cy="457200"/>
          </a:xfrm>
          <a:prstGeom prst="ellipse">
            <a:avLst/>
          </a:prstGeom>
          <a:solidFill>
            <a:schemeClr val="accent1"/>
          </a:solidFill>
          <a:ln w="12700">
            <a:solidFill>
              <a:schemeClr val="accent1"/>
            </a:solidFill>
            <a:prstDash val="solid"/>
          </a:ln>
        </p:spPr>
      </p:sp>
      <p:sp>
        <p:nvSpPr>
          <p:cNvPr id="15" name="point 4 number"/>
          <p:cNvSpPr txBox="1"/>
          <p:nvPr/>
        </p:nvSpPr>
        <p:spPr>
          <a:xfrm>
            <a:off x="7680960" y="496062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6" name="point 4 text"/>
          <p:cNvSpPr txBox="1"/>
          <p:nvPr/>
        </p:nvSpPr>
        <p:spPr>
          <a:xfrm>
            <a:off x="8321040" y="4942332"/>
            <a:ext cx="3319272" cy="1120140"/>
          </a:xfrm>
          <a:prstGeom prst="rect">
            <a:avLst/>
          </a:prstGeom>
          <a:noFill/>
          <a:ln/>
        </p:spPr>
        <p:txBody>
          <a:bodyPr wrap="square" lIns="0" tIns="0" rIns="0" bIns="0" rtlCol="0" anchor="t"/>
          <a:lstStyle/>
          <a:p>
            <a:pPr indent="0" marL="0">
              <a:buNone/>
            </a:pPr>
            <a:r>
              <a:rPr lang="en-US" sz="1400" b="1" dirty="0">
                <a:solidFill>
                  <a:schemeClr val="tx2"/>
                </a:solidFill>
              </a:rPr>
              <a:t>Approve, reject or undo</a:t>
            </a:r>
            <a:endParaRPr lang="en-US" sz="1400" dirty="0"/>
          </a:p>
          <a:p>
            <a:pPr indent="0" marL="0">
              <a:buNone/>
            </a:pPr>
            <a:r>
              <a:rPr lang="en-US" sz="1400" dirty="0">
                <a:solidFill>
                  <a:schemeClr val="tx1"/>
                </a:solidFill>
              </a:rPr>
              <a:t>Nothing changes until someone approves. The result exports as a CSV.</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Walkthrough: proof that it can be trusted</a:t>
            </a:r>
            <a:endParaRPr lang="en-US" sz="3600" dirty="0"/>
          </a:p>
        </p:txBody>
      </p:sp>
      <p:sp>
        <p:nvSpPr>
          <p:cNvPr id="3" name="screenshot frame"/>
          <p:cNvSpPr/>
          <p:nvPr/>
        </p:nvSpPr>
        <p:spPr>
          <a:xfrm>
            <a:off x="548640" y="1325880"/>
            <a:ext cx="6766560" cy="4757738"/>
          </a:xfrm>
          <a:prstGeom prst="rect">
            <a:avLst/>
          </a:prstGeom>
          <a:solidFill>
            <a:schemeClr val="bg1"/>
          </a:solidFill>
          <a:ln w="9525">
            <a:solidFill>
              <a:srgbClr val="6B7385"/>
            </a:solidFill>
            <a:prstDash val="solid"/>
          </a:ln>
          <a:effectLst>
            <a:outerShdw sx="100000" sy="100000" kx="0" ky="0" algn="bl" rotWithShape="0" blurRad="76200" dist="25400" dir="5400000">
              <a:srgbClr val="000000">
                <a:alpha val="18000"/>
              </a:srgbClr>
            </a:outerShdw>
          </a:effectLst>
        </p:spPr>
      </p:sp>
      <p:pic>
        <p:nvPicPr>
          <p:cNvPr id="4" name="app screenshot" descr="evals.png">    </p:cNvPr>
          <p:cNvPicPr>
            <a:picLocks noChangeAspect="1"/>
          </p:cNvPicPr>
          <p:nvPr/>
        </p:nvPicPr>
        <p:blipFill>
          <a:blip r:embed="rId1"/>
          <a:srcRect l="0" r="0" t="0" b="0"/>
          <a:stretch/>
        </p:blipFill>
        <p:spPr>
          <a:xfrm>
            <a:off x="548640" y="1325880"/>
            <a:ext cx="6766560" cy="4757738"/>
          </a:xfrm>
          <a:prstGeom prst="rect">
            <a:avLst/>
          </a:prstGeom>
        </p:spPr>
      </p:pic>
      <p:sp>
        <p:nvSpPr>
          <p:cNvPr id="5" name="point 1 badge"/>
          <p:cNvSpPr/>
          <p:nvPr/>
        </p:nvSpPr>
        <p:spPr>
          <a:xfrm>
            <a:off x="7680960" y="1325880"/>
            <a:ext cx="457200" cy="457200"/>
          </a:xfrm>
          <a:prstGeom prst="ellipse">
            <a:avLst/>
          </a:prstGeom>
          <a:solidFill>
            <a:schemeClr val="accent1"/>
          </a:solidFill>
          <a:ln w="12700">
            <a:solidFill>
              <a:schemeClr val="accent1"/>
            </a:solidFill>
            <a:prstDash val="solid"/>
          </a:ln>
        </p:spPr>
      </p:sp>
      <p:sp>
        <p:nvSpPr>
          <p:cNvPr id="6" name="point 1 number"/>
          <p:cNvSpPr txBox="1"/>
          <p:nvPr/>
        </p:nvSpPr>
        <p:spPr>
          <a:xfrm>
            <a:off x="7680960" y="132588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7" name="point 1 text"/>
          <p:cNvSpPr txBox="1"/>
          <p:nvPr/>
        </p:nvSpPr>
        <p:spPr>
          <a:xfrm>
            <a:off x="8321040" y="1307592"/>
            <a:ext cx="3319272" cy="1120140"/>
          </a:xfrm>
          <a:prstGeom prst="rect">
            <a:avLst/>
          </a:prstGeom>
          <a:noFill/>
          <a:ln/>
        </p:spPr>
        <p:txBody>
          <a:bodyPr wrap="square" lIns="0" tIns="0" rIns="0" bIns="0" rtlCol="0" anchor="t"/>
          <a:lstStyle/>
          <a:p>
            <a:pPr indent="0" marL="0">
              <a:buNone/>
            </a:pPr>
            <a:r>
              <a:rPr lang="en-US" sz="1400" b="1" dirty="0">
                <a:solidFill>
                  <a:schemeClr val="tx2"/>
                </a:solidFill>
              </a:rPr>
              <a:t>12 of 12 checks pass</a:t>
            </a:r>
            <a:endParaRPr lang="en-US" sz="1400" dirty="0"/>
          </a:p>
          <a:p>
            <a:pPr indent="0" marL="0">
              <a:buNone/>
            </a:pPr>
            <a:r>
              <a:rPr lang="en-US" sz="1400" dirty="0">
                <a:solidFill>
                  <a:schemeClr val="tx1"/>
                </a:solidFill>
              </a:rPr>
              <a:t>Known answers hidden in the dataset are re-checked every time the page loads.</a:t>
            </a:r>
            <a:endParaRPr lang="en-US" sz="1400" dirty="0"/>
          </a:p>
        </p:txBody>
      </p:sp>
      <p:sp>
        <p:nvSpPr>
          <p:cNvPr id="8" name="point 2 badge"/>
          <p:cNvSpPr/>
          <p:nvPr/>
        </p:nvSpPr>
        <p:spPr>
          <a:xfrm>
            <a:off x="7680960" y="2537460"/>
            <a:ext cx="457200" cy="457200"/>
          </a:xfrm>
          <a:prstGeom prst="ellipse">
            <a:avLst/>
          </a:prstGeom>
          <a:solidFill>
            <a:schemeClr val="accent1"/>
          </a:solidFill>
          <a:ln w="12700">
            <a:solidFill>
              <a:schemeClr val="accent1"/>
            </a:solidFill>
            <a:prstDash val="solid"/>
          </a:ln>
        </p:spPr>
      </p:sp>
      <p:sp>
        <p:nvSpPr>
          <p:cNvPr id="9" name="point 2 number"/>
          <p:cNvSpPr txBox="1"/>
          <p:nvPr/>
        </p:nvSpPr>
        <p:spPr>
          <a:xfrm>
            <a:off x="7680960" y="253746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10" name="point 2 text"/>
          <p:cNvSpPr txBox="1"/>
          <p:nvPr/>
        </p:nvSpPr>
        <p:spPr>
          <a:xfrm>
            <a:off x="8321040" y="2519172"/>
            <a:ext cx="3319272" cy="1120140"/>
          </a:xfrm>
          <a:prstGeom prst="rect">
            <a:avLst/>
          </a:prstGeom>
          <a:noFill/>
          <a:ln/>
        </p:spPr>
        <p:txBody>
          <a:bodyPr wrap="square" lIns="0" tIns="0" rIns="0" bIns="0" rtlCol="0" anchor="t"/>
          <a:lstStyle/>
          <a:p>
            <a:pPr indent="0" marL="0">
              <a:buNone/>
            </a:pPr>
            <a:r>
              <a:rPr lang="en-US" sz="1400" b="1" dirty="0">
                <a:solidFill>
                  <a:schemeClr val="tx2"/>
                </a:solidFill>
              </a:rPr>
              <a:t>92 of 92 quotes verified</a:t>
            </a:r>
            <a:endParaRPr lang="en-US" sz="1400" dirty="0"/>
          </a:p>
          <a:p>
            <a:pPr indent="0" marL="0">
              <a:buNone/>
            </a:pPr>
            <a:r>
              <a:rPr lang="en-US" sz="1400" dirty="0">
                <a:solidFill>
                  <a:schemeClr val="tx1"/>
                </a:solidFill>
              </a:rPr>
              <a:t>A made-up “500k budget” quote is caught and rejected.</a:t>
            </a:r>
            <a:endParaRPr lang="en-US" sz="1400" dirty="0"/>
          </a:p>
        </p:txBody>
      </p:sp>
      <p:sp>
        <p:nvSpPr>
          <p:cNvPr id="11" name="point 3 badge"/>
          <p:cNvSpPr/>
          <p:nvPr/>
        </p:nvSpPr>
        <p:spPr>
          <a:xfrm>
            <a:off x="7680960" y="3749040"/>
            <a:ext cx="457200" cy="457200"/>
          </a:xfrm>
          <a:prstGeom prst="ellipse">
            <a:avLst/>
          </a:prstGeom>
          <a:solidFill>
            <a:schemeClr val="accent1"/>
          </a:solidFill>
          <a:ln w="12700">
            <a:solidFill>
              <a:schemeClr val="accent1"/>
            </a:solidFill>
            <a:prstDash val="solid"/>
          </a:ln>
        </p:spPr>
      </p:sp>
      <p:sp>
        <p:nvSpPr>
          <p:cNvPr id="12" name="point 3 number"/>
          <p:cNvSpPr txBox="1"/>
          <p:nvPr/>
        </p:nvSpPr>
        <p:spPr>
          <a:xfrm>
            <a:off x="7680960" y="374904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3" name="point 3 text"/>
          <p:cNvSpPr txBox="1"/>
          <p:nvPr/>
        </p:nvSpPr>
        <p:spPr>
          <a:xfrm>
            <a:off x="8321040" y="3730752"/>
            <a:ext cx="3319272" cy="1120140"/>
          </a:xfrm>
          <a:prstGeom prst="rect">
            <a:avLst/>
          </a:prstGeom>
          <a:noFill/>
          <a:ln/>
        </p:spPr>
        <p:txBody>
          <a:bodyPr wrap="square" lIns="0" tIns="0" rIns="0" bIns="0" rtlCol="0" anchor="t"/>
          <a:lstStyle/>
          <a:p>
            <a:pPr indent="0" marL="0">
              <a:buNone/>
            </a:pPr>
            <a:r>
              <a:rPr lang="en-US" sz="1400" b="1" dirty="0">
                <a:solidFill>
                  <a:schemeClr val="tx2"/>
                </a:solidFill>
              </a:rPr>
              <a:t>No guessed values</a:t>
            </a:r>
            <a:endParaRPr lang="en-US" sz="1400" dirty="0"/>
          </a:p>
          <a:p>
            <a:pPr indent="0" marL="0">
              <a:buNone/>
            </a:pPr>
            <a:r>
              <a:rPr lang="en-US" sz="1400" dirty="0">
                <a:solidFill>
                  <a:schemeClr val="tx1"/>
                </a:solidFill>
              </a:rPr>
              <a:t>25 values are sourced, and the other 19 say “Not stated”.</a:t>
            </a:r>
            <a:endParaRPr lang="en-US" sz="1400" dirty="0"/>
          </a:p>
        </p:txBody>
      </p:sp>
      <p:sp>
        <p:nvSpPr>
          <p:cNvPr id="14" name="point 4 badge"/>
          <p:cNvSpPr/>
          <p:nvPr/>
        </p:nvSpPr>
        <p:spPr>
          <a:xfrm>
            <a:off x="7680960" y="4960620"/>
            <a:ext cx="457200" cy="457200"/>
          </a:xfrm>
          <a:prstGeom prst="ellipse">
            <a:avLst/>
          </a:prstGeom>
          <a:solidFill>
            <a:schemeClr val="accent1"/>
          </a:solidFill>
          <a:ln w="12700">
            <a:solidFill>
              <a:schemeClr val="accent1"/>
            </a:solidFill>
            <a:prstDash val="solid"/>
          </a:ln>
        </p:spPr>
      </p:sp>
      <p:sp>
        <p:nvSpPr>
          <p:cNvPr id="15" name="point 4 number"/>
          <p:cNvSpPr txBox="1"/>
          <p:nvPr/>
        </p:nvSpPr>
        <p:spPr>
          <a:xfrm>
            <a:off x="7680960" y="4960620"/>
            <a:ext cx="457200" cy="457200"/>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6" name="point 4 text"/>
          <p:cNvSpPr txBox="1"/>
          <p:nvPr/>
        </p:nvSpPr>
        <p:spPr>
          <a:xfrm>
            <a:off x="8321040" y="4942332"/>
            <a:ext cx="3319272" cy="1120140"/>
          </a:xfrm>
          <a:prstGeom prst="rect">
            <a:avLst/>
          </a:prstGeom>
          <a:noFill/>
          <a:ln/>
        </p:spPr>
        <p:txBody>
          <a:bodyPr wrap="square" lIns="0" tIns="0" rIns="0" bIns="0" rtlCol="0" anchor="t"/>
          <a:lstStyle/>
          <a:p>
            <a:pPr indent="0" marL="0">
              <a:buNone/>
            </a:pPr>
            <a:r>
              <a:rPr lang="en-US" sz="1400" b="1" dirty="0">
                <a:solidFill>
                  <a:schemeClr val="tx2"/>
                </a:solidFill>
              </a:rPr>
              <a:t>Try it live</a:t>
            </a:r>
            <a:endParaRPr lang="en-US" sz="1400" dirty="0"/>
          </a:p>
          <a:p>
            <a:pPr indent="0" marL="0">
              <a:buNone/>
            </a:pPr>
            <a:r>
              <a:rPr lang="en-US" sz="1400" dirty="0">
                <a:solidFill>
                  <a:schemeClr val="tx1"/>
                </a:solidFill>
              </a:rPr>
              <a:t>Paste a new email and the same checks run on what the AI finds.</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North Star: follow-ups done on time</a:t>
            </a:r>
            <a:endParaRPr lang="en-US" sz="3600" dirty="0"/>
          </a:p>
        </p:txBody>
      </p:sp>
      <p:sp>
        <p:nvSpPr>
          <p:cNvPr id="3" name="north star card"/>
          <p:cNvSpPr/>
          <p:nvPr/>
        </p:nvSpPr>
        <p:spPr>
          <a:xfrm>
            <a:off x="548640" y="1371600"/>
            <a:ext cx="4206240" cy="4709160"/>
          </a:xfrm>
          <a:prstGeom prst="roundRect">
            <a:avLst>
              <a:gd name="adj" fmla="val 1739"/>
            </a:avLst>
          </a:prstGeom>
          <a:solidFill>
            <a:schemeClr val="tx2"/>
          </a:solidFill>
          <a:ln w="12700">
            <a:solidFill>
              <a:schemeClr val="tx2"/>
            </a:solidFill>
            <a:prstDash val="solid"/>
          </a:ln>
        </p:spPr>
      </p:sp>
      <p:pic>
        <p:nvPicPr>
          <p:cNvPr id="4" name="north star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north star name"/>
          <p:cNvSpPr txBox="1"/>
          <p:nvPr/>
        </p:nvSpPr>
        <p:spPr>
          <a:xfrm>
            <a:off x="1508760" y="1645920"/>
            <a:ext cx="3108960" cy="502920"/>
          </a:xfrm>
          <a:prstGeom prst="rect">
            <a:avLst/>
          </a:prstGeom>
          <a:noFill/>
          <a:ln/>
        </p:spPr>
        <p:txBody>
          <a:bodyPr wrap="square" lIns="0" tIns="0" rIns="0" bIns="0" rtlCol="0" anchor="ctr"/>
          <a:lstStyle/>
          <a:p>
            <a:pPr indent="0" marL="0">
              <a:buNone/>
            </a:pPr>
            <a:r>
              <a:rPr lang="en-US" sz="2000" b="1" dirty="0">
                <a:solidFill>
                  <a:schemeClr val="bg1"/>
                </a:solidFill>
              </a:rPr>
              <a:t>On-time follow-up rate</a:t>
            </a:r>
            <a:endParaRPr lang="en-US" sz="2000" dirty="0"/>
          </a:p>
        </p:txBody>
      </p:sp>
      <p:sp>
        <p:nvSpPr>
          <p:cNvPr id="6" name="north star definition"/>
          <p:cNvSpPr txBox="1"/>
          <p:nvPr/>
        </p:nvSpPr>
        <p:spPr>
          <a:xfrm>
            <a:off x="868680" y="2331720"/>
            <a:ext cx="3611880" cy="1005840"/>
          </a:xfrm>
          <a:prstGeom prst="rect">
            <a:avLst/>
          </a:prstGeom>
          <a:noFill/>
          <a:ln/>
        </p:spPr>
        <p:txBody>
          <a:bodyPr wrap="square" lIns="0" tIns="0" rIns="0" bIns="0" rtlCol="0" anchor="t"/>
          <a:lstStyle/>
          <a:p>
            <a:pPr indent="0" marL="0">
              <a:buNone/>
            </a:pPr>
            <a:r>
              <a:rPr lang="en-US" sz="1400" dirty="0">
                <a:solidFill>
                  <a:schemeClr val="bg2"/>
                </a:solidFill>
              </a:rPr>
              <a:t>Client questions, our promises and new leads acted on by their due date, divided by all that were due.</a:t>
            </a:r>
            <a:endParaRPr lang="en-US" sz="1400" dirty="0"/>
          </a:p>
        </p:txBody>
      </p:sp>
      <p:sp>
        <p:nvSpPr>
          <p:cNvPr id="7" name="north star value 1"/>
          <p:cNvSpPr txBox="1"/>
          <p:nvPr/>
        </p:nvSpPr>
        <p:spPr>
          <a:xfrm>
            <a:off x="868680" y="3474720"/>
            <a:ext cx="1463040" cy="685800"/>
          </a:xfrm>
          <a:prstGeom prst="rect">
            <a:avLst/>
          </a:prstGeom>
          <a:noFill/>
          <a:ln/>
        </p:spPr>
        <p:txBody>
          <a:bodyPr wrap="square" lIns="0" tIns="0" rIns="0" bIns="0" rtlCol="0" anchor="ctr"/>
          <a:lstStyle/>
          <a:p>
            <a:pPr indent="0" marL="0">
              <a:buNone/>
            </a:pPr>
            <a:r>
              <a:rPr lang="en-US" sz="3200" b="1" dirty="0">
                <a:solidFill>
                  <a:schemeClr val="bg2"/>
                </a:solidFill>
                <a:latin typeface="Cambria" pitchFamily="34" charset="0"/>
                <a:ea typeface="Cambria" pitchFamily="34" charset="-122"/>
                <a:cs typeface="Cambria" pitchFamily="34" charset="-120"/>
              </a:rPr>
              <a:t>~17%</a:t>
            </a:r>
            <a:endParaRPr lang="en-US" sz="3200" dirty="0"/>
          </a:p>
        </p:txBody>
      </p:sp>
      <p:sp>
        <p:nvSpPr>
          <p:cNvPr id="8" name="north star label 1"/>
          <p:cNvSpPr txBox="1"/>
          <p:nvPr/>
        </p:nvSpPr>
        <p:spPr>
          <a:xfrm>
            <a:off x="2377440" y="3474720"/>
            <a:ext cx="2194560" cy="685800"/>
          </a:xfrm>
          <a:prstGeom prst="rect">
            <a:avLst/>
          </a:prstGeom>
          <a:noFill/>
          <a:ln/>
        </p:spPr>
        <p:txBody>
          <a:bodyPr wrap="square" lIns="0" tIns="0" rIns="0" bIns="0" rtlCol="0" anchor="ctr"/>
          <a:lstStyle/>
          <a:p>
            <a:pPr indent="0" marL="0">
              <a:buNone/>
            </a:pPr>
            <a:r>
              <a:rPr lang="en-US" sz="1500" dirty="0">
                <a:solidFill>
                  <a:schemeClr val="bg1"/>
                </a:solidFill>
              </a:rPr>
              <a:t>today (about 1 in 6)</a:t>
            </a:r>
            <a:endParaRPr lang="en-US" sz="1500" dirty="0"/>
          </a:p>
        </p:txBody>
      </p:sp>
      <p:sp>
        <p:nvSpPr>
          <p:cNvPr id="9" name="north star value 2"/>
          <p:cNvSpPr txBox="1"/>
          <p:nvPr/>
        </p:nvSpPr>
        <p:spPr>
          <a:xfrm>
            <a:off x="868680" y="4297680"/>
            <a:ext cx="146304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80%</a:t>
            </a:r>
            <a:endParaRPr lang="en-US" sz="3200" dirty="0"/>
          </a:p>
        </p:txBody>
      </p:sp>
      <p:sp>
        <p:nvSpPr>
          <p:cNvPr id="10" name="north star label 2"/>
          <p:cNvSpPr txBox="1"/>
          <p:nvPr/>
        </p:nvSpPr>
        <p:spPr>
          <a:xfrm>
            <a:off x="2377440" y="4297680"/>
            <a:ext cx="2194560" cy="685800"/>
          </a:xfrm>
          <a:prstGeom prst="rect">
            <a:avLst/>
          </a:prstGeom>
          <a:noFill/>
          <a:ln/>
        </p:spPr>
        <p:txBody>
          <a:bodyPr wrap="square" lIns="0" tIns="0" rIns="0" bIns="0" rtlCol="0" anchor="ctr"/>
          <a:lstStyle/>
          <a:p>
            <a:pPr indent="0" marL="0">
              <a:buNone/>
            </a:pPr>
            <a:r>
              <a:rPr lang="en-US" sz="1500" dirty="0">
                <a:solidFill>
                  <a:schemeClr val="bg1"/>
                </a:solidFill>
              </a:rPr>
              <a:t>in 8 weeks</a:t>
            </a:r>
            <a:endParaRPr lang="en-US" sz="1500" dirty="0"/>
          </a:p>
        </p:txBody>
      </p:sp>
      <p:sp>
        <p:nvSpPr>
          <p:cNvPr id="11" name="north star value 3"/>
          <p:cNvSpPr txBox="1"/>
          <p:nvPr/>
        </p:nvSpPr>
        <p:spPr>
          <a:xfrm>
            <a:off x="868680" y="5120640"/>
            <a:ext cx="1463040" cy="68580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90%</a:t>
            </a:r>
            <a:endParaRPr lang="en-US" sz="3200" dirty="0"/>
          </a:p>
        </p:txBody>
      </p:sp>
      <p:sp>
        <p:nvSpPr>
          <p:cNvPr id="12" name="north star label 3"/>
          <p:cNvSpPr txBox="1"/>
          <p:nvPr/>
        </p:nvSpPr>
        <p:spPr>
          <a:xfrm>
            <a:off x="2377440" y="5120640"/>
            <a:ext cx="2194560" cy="685800"/>
          </a:xfrm>
          <a:prstGeom prst="rect">
            <a:avLst/>
          </a:prstGeom>
          <a:noFill/>
          <a:ln/>
        </p:spPr>
        <p:txBody>
          <a:bodyPr wrap="square" lIns="0" tIns="0" rIns="0" bIns="0" rtlCol="0" anchor="ctr"/>
          <a:lstStyle/>
          <a:p>
            <a:pPr indent="0" marL="0">
              <a:buNone/>
            </a:pPr>
            <a:r>
              <a:rPr lang="en-US" sz="1500" dirty="0">
                <a:solidFill>
                  <a:schemeClr val="bg1"/>
                </a:solidFill>
              </a:rPr>
              <a:t>in 6 months</a:t>
            </a:r>
            <a:endParaRPr lang="en-US" sz="1500" dirty="0"/>
          </a:p>
        </p:txBody>
      </p:sp>
      <p:sp>
        <p:nvSpPr>
          <p:cNvPr id="13" name="supporting heading"/>
          <p:cNvSpPr txBox="1"/>
          <p:nvPr/>
        </p:nvSpPr>
        <p:spPr>
          <a:xfrm>
            <a:off x="5120640" y="1325880"/>
            <a:ext cx="640080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Supporting metrics</a:t>
            </a:r>
            <a:endParaRPr lang="en-US" sz="2000" dirty="0"/>
          </a:p>
        </p:txBody>
      </p:sp>
      <p:sp>
        <p:nvSpPr>
          <p:cNvPr id="14" name="metric 1 card"/>
          <p:cNvSpPr/>
          <p:nvPr/>
        </p:nvSpPr>
        <p:spPr>
          <a:xfrm>
            <a:off x="5120640" y="1783080"/>
            <a:ext cx="3136392" cy="822960"/>
          </a:xfrm>
          <a:prstGeom prst="roundRect">
            <a:avLst>
              <a:gd name="adj" fmla="val 8889"/>
            </a:avLst>
          </a:prstGeom>
          <a:solidFill>
            <a:schemeClr val="bg2"/>
          </a:solidFill>
          <a:ln w="12700">
            <a:solidFill>
              <a:schemeClr val="bg2"/>
            </a:solidFill>
            <a:prstDash val="solid"/>
          </a:ln>
        </p:spPr>
      </p:sp>
      <p:sp>
        <p:nvSpPr>
          <p:cNvPr id="15" name="metric 1 text"/>
          <p:cNvSpPr txBox="1"/>
          <p:nvPr/>
        </p:nvSpPr>
        <p:spPr>
          <a:xfrm>
            <a:off x="5303520" y="1783080"/>
            <a:ext cx="2834640" cy="822960"/>
          </a:xfrm>
          <a:prstGeom prst="rect">
            <a:avLst/>
          </a:prstGeom>
          <a:noFill/>
          <a:ln/>
        </p:spPr>
        <p:txBody>
          <a:bodyPr wrap="square" lIns="0" tIns="0" rIns="0" bIns="0" rtlCol="0" anchor="ctr"/>
          <a:lstStyle/>
          <a:p>
            <a:pPr indent="0" marL="0">
              <a:buNone/>
            </a:pPr>
            <a:r>
              <a:rPr lang="en-US" sz="1300" dirty="0">
                <a:solidFill>
                  <a:schemeClr val="accent5"/>
                </a:solidFill>
              </a:rPr>
              <a:t>Deals with a next step and date</a:t>
            </a:r>
            <a:endParaRPr lang="en-US" sz="1300" dirty="0"/>
          </a:p>
          <a:p>
            <a:pPr indent="0" marL="0">
              <a:buNone/>
            </a:pPr>
            <a:r>
              <a:rPr lang="en-US" sz="1600" b="1" dirty="0">
                <a:solidFill>
                  <a:schemeClr val="tx2"/>
                </a:solidFill>
              </a:rPr>
              <a:t>0 of 40 → 90%</a:t>
            </a:r>
            <a:endParaRPr lang="en-US" sz="1300" dirty="0"/>
          </a:p>
        </p:txBody>
      </p:sp>
      <p:sp>
        <p:nvSpPr>
          <p:cNvPr id="16" name="metric 2 card"/>
          <p:cNvSpPr/>
          <p:nvPr/>
        </p:nvSpPr>
        <p:spPr>
          <a:xfrm>
            <a:off x="8412480" y="1783080"/>
            <a:ext cx="3136392" cy="822960"/>
          </a:xfrm>
          <a:prstGeom prst="roundRect">
            <a:avLst>
              <a:gd name="adj" fmla="val 8889"/>
            </a:avLst>
          </a:prstGeom>
          <a:solidFill>
            <a:schemeClr val="bg2"/>
          </a:solidFill>
          <a:ln w="12700">
            <a:solidFill>
              <a:schemeClr val="bg2"/>
            </a:solidFill>
            <a:prstDash val="solid"/>
          </a:ln>
        </p:spPr>
      </p:sp>
      <p:sp>
        <p:nvSpPr>
          <p:cNvPr id="17" name="metric 2 text"/>
          <p:cNvSpPr txBox="1"/>
          <p:nvPr/>
        </p:nvSpPr>
        <p:spPr>
          <a:xfrm>
            <a:off x="8595360" y="1783080"/>
            <a:ext cx="2834640" cy="822960"/>
          </a:xfrm>
          <a:prstGeom prst="rect">
            <a:avLst/>
          </a:prstGeom>
          <a:noFill/>
          <a:ln/>
        </p:spPr>
        <p:txBody>
          <a:bodyPr wrap="square" lIns="0" tIns="0" rIns="0" bIns="0" rtlCol="0" anchor="ctr"/>
          <a:lstStyle/>
          <a:p>
            <a:pPr indent="0" marL="0">
              <a:buNone/>
            </a:pPr>
            <a:r>
              <a:rPr lang="en-US" sz="1300" dirty="0">
                <a:solidFill>
                  <a:schemeClr val="accent5"/>
                </a:solidFill>
              </a:rPr>
              <a:t>New lead in CRM</a:t>
            </a:r>
            <a:endParaRPr lang="en-US" sz="1300" dirty="0"/>
          </a:p>
          <a:p>
            <a:pPr indent="0" marL="0">
              <a:buNone/>
            </a:pPr>
            <a:r>
              <a:rPr lang="en-US" sz="1600" b="1" dirty="0">
                <a:solidFill>
                  <a:schemeClr val="tx2"/>
                </a:solidFill>
              </a:rPr>
              <a:t>within 24 hours</a:t>
            </a:r>
            <a:endParaRPr lang="en-US" sz="1300" dirty="0"/>
          </a:p>
        </p:txBody>
      </p:sp>
      <p:sp>
        <p:nvSpPr>
          <p:cNvPr id="18" name="metric 3 card"/>
          <p:cNvSpPr/>
          <p:nvPr/>
        </p:nvSpPr>
        <p:spPr>
          <a:xfrm>
            <a:off x="5120640" y="2743200"/>
            <a:ext cx="3136392" cy="822960"/>
          </a:xfrm>
          <a:prstGeom prst="roundRect">
            <a:avLst>
              <a:gd name="adj" fmla="val 8889"/>
            </a:avLst>
          </a:prstGeom>
          <a:solidFill>
            <a:schemeClr val="bg2"/>
          </a:solidFill>
          <a:ln w="12700">
            <a:solidFill>
              <a:schemeClr val="bg2"/>
            </a:solidFill>
            <a:prstDash val="solid"/>
          </a:ln>
        </p:spPr>
      </p:sp>
      <p:sp>
        <p:nvSpPr>
          <p:cNvPr id="19" name="metric 3 text"/>
          <p:cNvSpPr txBox="1"/>
          <p:nvPr/>
        </p:nvSpPr>
        <p:spPr>
          <a:xfrm>
            <a:off x="5303520" y="2743200"/>
            <a:ext cx="2834640" cy="822960"/>
          </a:xfrm>
          <a:prstGeom prst="rect">
            <a:avLst/>
          </a:prstGeom>
          <a:noFill/>
          <a:ln/>
        </p:spPr>
        <p:txBody>
          <a:bodyPr wrap="square" lIns="0" tIns="0" rIns="0" bIns="0" rtlCol="0" anchor="ctr"/>
          <a:lstStyle/>
          <a:p>
            <a:pPr indent="0" marL="0">
              <a:buNone/>
            </a:pPr>
            <a:r>
              <a:rPr lang="en-US" sz="1300" dirty="0">
                <a:solidFill>
                  <a:schemeClr val="accent5"/>
                </a:solidFill>
              </a:rPr>
              <a:t>Median client wait</a:t>
            </a:r>
            <a:endParaRPr lang="en-US" sz="1300" dirty="0"/>
          </a:p>
          <a:p>
            <a:pPr indent="0" marL="0">
              <a:buNone/>
            </a:pPr>
            <a:r>
              <a:rPr lang="en-US" sz="1600" b="1" dirty="0">
                <a:solidFill>
                  <a:schemeClr val="tx2"/>
                </a:solidFill>
              </a:rPr>
              <a:t>2 working days or less</a:t>
            </a:r>
            <a:endParaRPr lang="en-US" sz="1300" dirty="0"/>
          </a:p>
        </p:txBody>
      </p:sp>
      <p:sp>
        <p:nvSpPr>
          <p:cNvPr id="20" name="metric 4 card"/>
          <p:cNvSpPr/>
          <p:nvPr/>
        </p:nvSpPr>
        <p:spPr>
          <a:xfrm>
            <a:off x="8412480" y="2743200"/>
            <a:ext cx="3136392" cy="822960"/>
          </a:xfrm>
          <a:prstGeom prst="roundRect">
            <a:avLst>
              <a:gd name="adj" fmla="val 8889"/>
            </a:avLst>
          </a:prstGeom>
          <a:solidFill>
            <a:schemeClr val="bg2"/>
          </a:solidFill>
          <a:ln w="12700">
            <a:solidFill>
              <a:schemeClr val="bg2"/>
            </a:solidFill>
            <a:prstDash val="solid"/>
          </a:ln>
        </p:spPr>
      </p:sp>
      <p:sp>
        <p:nvSpPr>
          <p:cNvPr id="21" name="metric 4 text"/>
          <p:cNvSpPr txBox="1"/>
          <p:nvPr/>
        </p:nvSpPr>
        <p:spPr>
          <a:xfrm>
            <a:off x="8595360" y="2743200"/>
            <a:ext cx="2834640" cy="822960"/>
          </a:xfrm>
          <a:prstGeom prst="rect">
            <a:avLst/>
          </a:prstGeom>
          <a:noFill/>
          <a:ln/>
        </p:spPr>
        <p:txBody>
          <a:bodyPr wrap="square" lIns="0" tIns="0" rIns="0" bIns="0" rtlCol="0" anchor="ctr"/>
          <a:lstStyle/>
          <a:p>
            <a:pPr indent="0" marL="0">
              <a:buNone/>
            </a:pPr>
            <a:r>
              <a:rPr lang="en-US" sz="1300" dirty="0">
                <a:solidFill>
                  <a:schemeClr val="accent5"/>
                </a:solidFill>
              </a:rPr>
              <a:t>CRM admin time</a:t>
            </a:r>
            <a:endParaRPr lang="en-US" sz="1300" dirty="0"/>
          </a:p>
          <a:p>
            <a:pPr indent="0" marL="0">
              <a:buNone/>
            </a:pPr>
            <a:r>
              <a:rPr lang="en-US" sz="1600" b="1" dirty="0">
                <a:solidFill>
                  <a:schemeClr val="tx2"/>
                </a:solidFill>
              </a:rPr>
              <a:t>2 hours → 20 minutes</a:t>
            </a:r>
            <a:endParaRPr lang="en-US" sz="1300" dirty="0"/>
          </a:p>
        </p:txBody>
      </p:sp>
      <p:sp>
        <p:nvSpPr>
          <p:cNvPr id="22" name="metric 5 card"/>
          <p:cNvSpPr/>
          <p:nvPr/>
        </p:nvSpPr>
        <p:spPr>
          <a:xfrm>
            <a:off x="5120640" y="3703320"/>
            <a:ext cx="3136392" cy="822960"/>
          </a:xfrm>
          <a:prstGeom prst="roundRect">
            <a:avLst>
              <a:gd name="adj" fmla="val 8889"/>
            </a:avLst>
          </a:prstGeom>
          <a:solidFill>
            <a:schemeClr val="bg2"/>
          </a:solidFill>
          <a:ln w="12700">
            <a:solidFill>
              <a:schemeClr val="bg2"/>
            </a:solidFill>
            <a:prstDash val="solid"/>
          </a:ln>
        </p:spPr>
      </p:sp>
      <p:sp>
        <p:nvSpPr>
          <p:cNvPr id="23" name="metric 5 text"/>
          <p:cNvSpPr txBox="1"/>
          <p:nvPr/>
        </p:nvSpPr>
        <p:spPr>
          <a:xfrm>
            <a:off x="5303520" y="3703320"/>
            <a:ext cx="2834640" cy="822960"/>
          </a:xfrm>
          <a:prstGeom prst="rect">
            <a:avLst/>
          </a:prstGeom>
          <a:noFill/>
          <a:ln/>
        </p:spPr>
        <p:txBody>
          <a:bodyPr wrap="square" lIns="0" tIns="0" rIns="0" bIns="0" rtlCol="0" anchor="ctr"/>
          <a:lstStyle/>
          <a:p>
            <a:pPr indent="0" marL="0">
              <a:buNone/>
            </a:pPr>
            <a:r>
              <a:rPr lang="en-US" sz="1300" dirty="0">
                <a:solidFill>
                  <a:schemeClr val="accent5"/>
                </a:solidFill>
              </a:rPr>
              <a:t>Facts backed by a source</a:t>
            </a:r>
            <a:endParaRPr lang="en-US" sz="1300" dirty="0"/>
          </a:p>
          <a:p>
            <a:pPr indent="0" marL="0">
              <a:buNone/>
            </a:pPr>
            <a:r>
              <a:rPr lang="en-US" sz="1600" b="1" dirty="0">
                <a:solidFill>
                  <a:schemeClr val="tx2"/>
                </a:solidFill>
              </a:rPr>
              <a:t>95% or more</a:t>
            </a:r>
            <a:endParaRPr lang="en-US" sz="1300" dirty="0"/>
          </a:p>
        </p:txBody>
      </p:sp>
      <p:sp>
        <p:nvSpPr>
          <p:cNvPr id="24" name="metric 6 card"/>
          <p:cNvSpPr/>
          <p:nvPr/>
        </p:nvSpPr>
        <p:spPr>
          <a:xfrm>
            <a:off x="8412480" y="3703320"/>
            <a:ext cx="3136392" cy="822960"/>
          </a:xfrm>
          <a:prstGeom prst="roundRect">
            <a:avLst>
              <a:gd name="adj" fmla="val 8889"/>
            </a:avLst>
          </a:prstGeom>
          <a:solidFill>
            <a:schemeClr val="bg2"/>
          </a:solidFill>
          <a:ln w="12700">
            <a:solidFill>
              <a:schemeClr val="bg2"/>
            </a:solidFill>
            <a:prstDash val="solid"/>
          </a:ln>
        </p:spPr>
      </p:sp>
      <p:sp>
        <p:nvSpPr>
          <p:cNvPr id="25" name="metric 6 text"/>
          <p:cNvSpPr txBox="1"/>
          <p:nvPr/>
        </p:nvSpPr>
        <p:spPr>
          <a:xfrm>
            <a:off x="8595360" y="3703320"/>
            <a:ext cx="2834640" cy="822960"/>
          </a:xfrm>
          <a:prstGeom prst="rect">
            <a:avLst/>
          </a:prstGeom>
          <a:noFill/>
          <a:ln/>
        </p:spPr>
        <p:txBody>
          <a:bodyPr wrap="square" lIns="0" tIns="0" rIns="0" bIns="0" rtlCol="0" anchor="ctr"/>
          <a:lstStyle/>
          <a:p>
            <a:pPr indent="0" marL="0">
              <a:buNone/>
            </a:pPr>
            <a:r>
              <a:rPr lang="en-US" sz="1300" dirty="0">
                <a:solidFill>
                  <a:schemeClr val="accent5"/>
                </a:solidFill>
              </a:rPr>
              <a:t>Stalled pipeline revived</a:t>
            </a:r>
            <a:endParaRPr lang="en-US" sz="1300" dirty="0"/>
          </a:p>
          <a:p>
            <a:pPr indent="0" marL="0">
              <a:buNone/>
            </a:pPr>
            <a:r>
              <a:rPr lang="en-US" sz="1600" b="1" dirty="0">
                <a:solidFill>
                  <a:schemeClr val="tx2"/>
                </a:solidFill>
              </a:rPr>
              <a:t>USD 200k of 405k in 90 days</a:t>
            </a:r>
            <a:endParaRPr lang="en-US" sz="1300" dirty="0"/>
          </a:p>
        </p:txBody>
      </p:sp>
      <p:sp>
        <p:nvSpPr>
          <p:cNvPr id="26" name="guardrail heading"/>
          <p:cNvSpPr txBox="1"/>
          <p:nvPr/>
        </p:nvSpPr>
        <p:spPr>
          <a:xfrm>
            <a:off x="5120640" y="4800600"/>
            <a:ext cx="6400800" cy="411480"/>
          </a:xfrm>
          <a:prstGeom prst="rect">
            <a:avLst/>
          </a:prstGeom>
          <a:noFill/>
          <a:ln/>
        </p:spPr>
        <p:txBody>
          <a:bodyPr wrap="square" lIns="0" tIns="0" rIns="0" bIns="0" rtlCol="0" anchor="t"/>
          <a:lstStyle/>
          <a:p>
            <a:pPr indent="0" marL="0">
              <a:buNone/>
            </a:pPr>
            <a:r>
              <a:rPr lang="en-US" sz="2000" b="1" dirty="0">
                <a:solidFill>
                  <a:schemeClr val="accent3"/>
                </a:solidFill>
                <a:latin typeface="Cambria" pitchFamily="34" charset="0"/>
                <a:ea typeface="Cambria" pitchFamily="34" charset="-122"/>
                <a:cs typeface="Cambria" pitchFamily="34" charset="-120"/>
              </a:rPr>
              <a:t>Guardrail metrics (must hold)</a:t>
            </a:r>
            <a:endParaRPr lang="en-US" sz="2000" dirty="0"/>
          </a:p>
        </p:txBody>
      </p:sp>
      <p:sp>
        <p:nvSpPr>
          <p:cNvPr id="27" name="guardrail metrics"/>
          <p:cNvSpPr txBox="1"/>
          <p:nvPr/>
        </p:nvSpPr>
        <p:spPr>
          <a:xfrm>
            <a:off x="5120640" y="5257800"/>
            <a:ext cx="6519672" cy="777240"/>
          </a:xfrm>
          <a:prstGeom prst="rect">
            <a:avLst/>
          </a:prstGeom>
          <a:noFill/>
          <a:ln/>
        </p:spPr>
        <p:txBody>
          <a:bodyPr wrap="square" lIns="0" tIns="0" rIns="0" bIns="0" rtlCol="0" anchor="t"/>
          <a:lstStyle/>
          <a:p>
            <a:pPr indent="0" marL="0">
              <a:buNone/>
            </a:pPr>
            <a:r>
              <a:rPr lang="en-US" sz="1500" dirty="0">
                <a:solidFill>
                  <a:schemeClr val="tx1"/>
                </a:solidFill>
              </a:rPr>
              <a:t>0 emails sent or CRM changes made without a person  ·  at most 7 items per brief  ·  under 30% of suggestions rejected</a:t>
            </a:r>
            <a:endParaRPr lang="en-US" sz="15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It costs about USD 455 a month to run</a:t>
            </a:r>
            <a:endParaRPr lang="en-US" sz="3600" dirty="0"/>
          </a:p>
        </p:txBody>
      </p:sp>
      <p:graphicFrame>
        <p:nvGraphicFramePr>
          <p:cNvPr id="3" name="monthly cost chart" descr=""/>
          <p:cNvGraphicFramePr/>
          <p:nvPr/>
        </p:nvGraphicFramePr>
        <p:xfrm>
          <a:off x="548640" y="1371600"/>
          <a:ext cx="6217920" cy="4663440"/>
        </p:xfrm>
        <a:graphic xmlns:a="http://schemas.openxmlformats.org/drawingml/2006/main">
          <a:graphicData uri="http://schemas.openxmlformats.org/drawingml/2006/chart">
            <c:chart xmlns:c="http://schemas.openxmlformats.org/drawingml/2006/chart" r:id="rId1"/>
          </a:graphicData>
        </a:graphic>
      </p:graphicFrame>
      <p:sp>
        <p:nvSpPr>
          <p:cNvPr id="4" name="cost card 1"/>
          <p:cNvSpPr/>
          <p:nvPr/>
        </p:nvSpPr>
        <p:spPr>
          <a:xfrm>
            <a:off x="7132320" y="1371600"/>
            <a:ext cx="4507992" cy="1024128"/>
          </a:xfrm>
          <a:prstGeom prst="roundRect">
            <a:avLst>
              <a:gd name="adj" fmla="val 7143"/>
            </a:avLst>
          </a:prstGeom>
          <a:solidFill>
            <a:schemeClr val="bg2"/>
          </a:solidFill>
          <a:ln w="12700">
            <a:solidFill>
              <a:schemeClr val="bg2"/>
            </a:solidFill>
            <a:prstDash val="solid"/>
          </a:ln>
        </p:spPr>
      </p:sp>
      <p:sp>
        <p:nvSpPr>
          <p:cNvPr id="5" name="cost value 1"/>
          <p:cNvSpPr txBox="1"/>
          <p:nvPr/>
        </p:nvSpPr>
        <p:spPr>
          <a:xfrm>
            <a:off x="7360920" y="1371600"/>
            <a:ext cx="1783080" cy="1024128"/>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USD 6.5</a:t>
            </a:r>
            <a:endParaRPr lang="en-US" sz="2400" dirty="0"/>
          </a:p>
        </p:txBody>
      </p:sp>
      <p:sp>
        <p:nvSpPr>
          <p:cNvPr id="6" name="cost label 1"/>
          <p:cNvSpPr txBox="1"/>
          <p:nvPr/>
        </p:nvSpPr>
        <p:spPr>
          <a:xfrm>
            <a:off x="9189720" y="1371600"/>
            <a:ext cx="2331720" cy="1024128"/>
          </a:xfrm>
          <a:prstGeom prst="rect">
            <a:avLst/>
          </a:prstGeom>
          <a:noFill/>
          <a:ln/>
        </p:spPr>
        <p:txBody>
          <a:bodyPr wrap="square" lIns="0" tIns="0" rIns="0" bIns="0" rtlCol="0" anchor="ctr"/>
          <a:lstStyle/>
          <a:p>
            <a:pPr indent="0" marL="0">
              <a:buNone/>
            </a:pPr>
            <a:r>
              <a:rPr lang="en-US" sz="1400" dirty="0">
                <a:solidFill>
                  <a:schemeClr val="tx1"/>
                </a:solidFill>
              </a:rPr>
              <a:t>a month for AI: Haiku 5.5 reads, Sonnet 5.5 drafts</a:t>
            </a:r>
            <a:endParaRPr lang="en-US" sz="1400" dirty="0"/>
          </a:p>
        </p:txBody>
      </p:sp>
      <p:sp>
        <p:nvSpPr>
          <p:cNvPr id="7" name="cost card 2"/>
          <p:cNvSpPr/>
          <p:nvPr/>
        </p:nvSpPr>
        <p:spPr>
          <a:xfrm>
            <a:off x="7132320" y="2560320"/>
            <a:ext cx="4507992" cy="1024128"/>
          </a:xfrm>
          <a:prstGeom prst="roundRect">
            <a:avLst>
              <a:gd name="adj" fmla="val 7143"/>
            </a:avLst>
          </a:prstGeom>
          <a:solidFill>
            <a:schemeClr val="bg2"/>
          </a:solidFill>
          <a:ln w="12700">
            <a:solidFill>
              <a:schemeClr val="bg2"/>
            </a:solidFill>
            <a:prstDash val="solid"/>
          </a:ln>
        </p:spPr>
      </p:sp>
      <p:sp>
        <p:nvSpPr>
          <p:cNvPr id="8" name="cost value 2"/>
          <p:cNvSpPr txBox="1"/>
          <p:nvPr/>
        </p:nvSpPr>
        <p:spPr>
          <a:xfrm>
            <a:off x="7360920" y="2560320"/>
            <a:ext cx="1783080" cy="1024128"/>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USD 7,200</a:t>
            </a:r>
            <a:endParaRPr lang="en-US" sz="2400" dirty="0"/>
          </a:p>
        </p:txBody>
      </p:sp>
      <p:sp>
        <p:nvSpPr>
          <p:cNvPr id="9" name="cost label 2"/>
          <p:cNvSpPr txBox="1"/>
          <p:nvPr/>
        </p:nvSpPr>
        <p:spPr>
          <a:xfrm>
            <a:off x="9189720" y="2560320"/>
            <a:ext cx="2331720" cy="1024128"/>
          </a:xfrm>
          <a:prstGeom prst="rect">
            <a:avLst/>
          </a:prstGeom>
          <a:noFill/>
          <a:ln/>
        </p:spPr>
        <p:txBody>
          <a:bodyPr wrap="square" lIns="0" tIns="0" rIns="0" bIns="0" rtlCol="0" anchor="ctr"/>
          <a:lstStyle/>
          <a:p>
            <a:pPr indent="0" marL="0">
              <a:buNone/>
            </a:pPr>
            <a:r>
              <a:rPr lang="en-US" sz="1400" dirty="0">
                <a:solidFill>
                  <a:schemeClr val="tx1"/>
                </a:solidFill>
              </a:rPr>
              <a:t>one-time build cost</a:t>
            </a:r>
            <a:endParaRPr lang="en-US" sz="1400" dirty="0"/>
          </a:p>
        </p:txBody>
      </p:sp>
      <p:sp>
        <p:nvSpPr>
          <p:cNvPr id="10" name="cost card 3"/>
          <p:cNvSpPr/>
          <p:nvPr/>
        </p:nvSpPr>
        <p:spPr>
          <a:xfrm>
            <a:off x="7132320" y="3749040"/>
            <a:ext cx="4507992" cy="1024128"/>
          </a:xfrm>
          <a:prstGeom prst="roundRect">
            <a:avLst>
              <a:gd name="adj" fmla="val 7143"/>
            </a:avLst>
          </a:prstGeom>
          <a:solidFill>
            <a:schemeClr val="bg2"/>
          </a:solidFill>
          <a:ln w="12700">
            <a:solidFill>
              <a:schemeClr val="bg2"/>
            </a:solidFill>
            <a:prstDash val="solid"/>
          </a:ln>
        </p:spPr>
      </p:sp>
      <p:sp>
        <p:nvSpPr>
          <p:cNvPr id="11" name="cost value 3"/>
          <p:cNvSpPr txBox="1"/>
          <p:nvPr/>
        </p:nvSpPr>
        <p:spPr>
          <a:xfrm>
            <a:off x="7360920" y="3749040"/>
            <a:ext cx="1783080" cy="1024128"/>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~9 months</a:t>
            </a:r>
            <a:endParaRPr lang="en-US" sz="2400" dirty="0"/>
          </a:p>
        </p:txBody>
      </p:sp>
      <p:sp>
        <p:nvSpPr>
          <p:cNvPr id="12" name="cost label 3"/>
          <p:cNvSpPr txBox="1"/>
          <p:nvPr/>
        </p:nvSpPr>
        <p:spPr>
          <a:xfrm>
            <a:off x="9189720" y="3749040"/>
            <a:ext cx="2331720" cy="1024128"/>
          </a:xfrm>
          <a:prstGeom prst="rect">
            <a:avLst/>
          </a:prstGeom>
          <a:noFill/>
          <a:ln/>
        </p:spPr>
        <p:txBody>
          <a:bodyPr wrap="square" lIns="0" tIns="0" rIns="0" bIns="0" rtlCol="0" anchor="ctr"/>
          <a:lstStyle/>
          <a:p>
            <a:pPr indent="0" marL="0">
              <a:buNone/>
            </a:pPr>
            <a:r>
              <a:rPr lang="en-US" sz="1400" dirty="0">
                <a:solidFill>
                  <a:schemeClr val="tx1"/>
                </a:solidFill>
              </a:rPr>
              <a:t>to pay back from founder time saved</a:t>
            </a:r>
            <a:endParaRPr lang="en-US" sz="1400" dirty="0"/>
          </a:p>
        </p:txBody>
      </p:sp>
      <p:sp>
        <p:nvSpPr>
          <p:cNvPr id="13" name="cost card 4"/>
          <p:cNvSpPr/>
          <p:nvPr/>
        </p:nvSpPr>
        <p:spPr>
          <a:xfrm>
            <a:off x="7132320" y="4937760"/>
            <a:ext cx="4507992" cy="1024128"/>
          </a:xfrm>
          <a:prstGeom prst="roundRect">
            <a:avLst>
              <a:gd name="adj" fmla="val 7143"/>
            </a:avLst>
          </a:prstGeom>
          <a:solidFill>
            <a:schemeClr val="bg2"/>
          </a:solidFill>
          <a:ln w="12700">
            <a:solidFill>
              <a:schemeClr val="bg2"/>
            </a:solidFill>
            <a:prstDash val="solid"/>
          </a:ln>
        </p:spPr>
      </p:sp>
      <p:sp>
        <p:nvSpPr>
          <p:cNvPr id="14" name="cost value 4"/>
          <p:cNvSpPr txBox="1"/>
          <p:nvPr/>
        </p:nvSpPr>
        <p:spPr>
          <a:xfrm>
            <a:off x="7360920" y="4937760"/>
            <a:ext cx="1783080" cy="1024128"/>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USD 31</a:t>
            </a:r>
            <a:endParaRPr lang="en-US" sz="2400" dirty="0"/>
          </a:p>
        </p:txBody>
      </p:sp>
      <p:sp>
        <p:nvSpPr>
          <p:cNvPr id="15" name="cost label 4"/>
          <p:cNvSpPr txBox="1"/>
          <p:nvPr/>
        </p:nvSpPr>
        <p:spPr>
          <a:xfrm>
            <a:off x="9189720" y="4937760"/>
            <a:ext cx="2331720" cy="1024128"/>
          </a:xfrm>
          <a:prstGeom prst="rect">
            <a:avLst/>
          </a:prstGeom>
          <a:noFill/>
          <a:ln/>
        </p:spPr>
        <p:txBody>
          <a:bodyPr wrap="square" lIns="0" tIns="0" rIns="0" bIns="0" rtlCol="0" anchor="ctr"/>
          <a:lstStyle/>
          <a:p>
            <a:pPr indent="0" marL="0">
              <a:buNone/>
            </a:pPr>
            <a:r>
              <a:rPr lang="en-US" sz="1400" dirty="0">
                <a:solidFill>
                  <a:schemeClr val="tx1"/>
                </a:solidFill>
              </a:rPr>
              <a:t>a month even if we used the top model (Opus 5.5) everywhere</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Risks, and the guardrails that handle them</a:t>
            </a:r>
            <a:endParaRPr lang="en-US" sz="3600" dirty="0"/>
          </a:p>
        </p:txBody>
      </p:sp>
      <p:graphicFrame>
        <p:nvGraphicFramePr>
          <p:cNvPr id="15" name="risk 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017520"/>
                <a:gridCol w="5239512"/>
                <a:gridCol w="2834640"/>
              </a:tblGrid>
              <a:tr h="41148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Guardrail in the product</a:t>
                      </a:r>
                      <a:endParaRPr lang="en-US" sz="15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How we check it</a:t>
                      </a:r>
                      <a:endParaRPr lang="en-US" sz="15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tx2"/>
                    </a:solidFill>
                  </a:tcPr>
                </a:tc>
              </a:tr>
              <a:tr h="749808">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AI makes up a fact or a number</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An item is shown only if its quote is found word-for-word; unknown values say “Not stated”</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95% or more of facts backed by a source; fake-quote eval</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749808">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A wrong email reaches a client</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There is no send button. The person edits and sends the draft from their own email</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 emails sent without a person</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749808">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A bad suggestion corrupts the CRM</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Every change needs Approve, can be undone, and is logged with who and when</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0 CRM changes without a person</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749808">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Too many alerts, so people stop reading</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At most 7 items per person, ranked by plain rules; the rest sit under “See all”</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Brief open rate; under 30% rejected</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r h="749808">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AI misses a promise</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Known-answer evals run on every change; “Not useful” feedback is reviewed weekly</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Under 10% of promises missed</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2"/>
                    </a:solidFill>
                  </a:tcPr>
                </a:tc>
              </a:tr>
              <a:tr h="749808">
                <a:tc>
                  <a:txBody>
                    <a:bodyPr/>
                    <a:lstStyle/>
                    <a:p>
                      <a:pPr indent="0" marL="0">
                        <a:buNone/>
                      </a:pPr>
                      <a:r>
                        <a:rPr lang="en-US" sz="1300" b="1" dirty="0">
                          <a:solidFill>
                            <a:schemeClr val="tx2"/>
                          </a:solidFill>
                          <a:latin typeface="Calibri" pitchFamily="34" charset="0"/>
                          <a:ea typeface="Calibri" pitchFamily="34" charset="-122"/>
                          <a:cs typeface="Calibri" pitchFamily="34" charset="-120"/>
                        </a:rPr>
                        <a:t>Client data goes where it shouldn't</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Only the email being read and matching CRM rows are sent to the model; sales mail only</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latin typeface="Calibri" pitchFamily="34" charset="0"/>
                          <a:ea typeface="Calibri" pitchFamily="34" charset="-122"/>
                          <a:cs typeface="Calibri" pitchFamily="34" charset="-120"/>
                        </a:rPr>
                        <a:t>Monthly access review</a:t>
                      </a:r>
                      <a:endParaRPr lang="en-US" sz="1300" dirty="0">
                        <a:latin typeface="Calibri" charset="0"/>
                        <a:ea typeface="Calibri" charset="0"/>
                        <a:cs typeface="Calibri" charset="0"/>
                      </a:endParaRPr>
                    </a:p>
                  </a:txBody>
                  <a:tcPr marL="73152" marR="73152" marT="73152" marB="73152" anchor="ctr">
                    <a:lnL w="9525" cap="flat" cmpd="sng" algn="ctr">
                      <a:solidFill>
                        <a:srgbClr val="D5DBE6"/>
                      </a:solidFill>
                      <a:prstDash val="solid"/>
                      <a:round/>
                      <a:headEnd type="none" w="med" len="med"/>
                      <a:tailEnd type="none" w="med" len="med"/>
                    </a:lnL>
                    <a:lnR w="9525" cap="flat" cmpd="sng" algn="ctr">
                      <a:solidFill>
                        <a:srgbClr val="D5DBE6"/>
                      </a:solidFill>
                      <a:prstDash val="solid"/>
                      <a:round/>
                      <a:headEnd type="none" w="med" len="med"/>
                      <a:tailEnd type="none" w="med" len="med"/>
                    </a:lnR>
                    <a:lnT w="9525" cap="flat" cmpd="sng" algn="ctr">
                      <a:solidFill>
                        <a:srgbClr val="D5DBE6"/>
                      </a:solidFill>
                      <a:prstDash val="solid"/>
                      <a:round/>
                      <a:headEnd type="none" w="med" len="med"/>
                      <a:tailEnd type="none" w="med" len="med"/>
                    </a:lnT>
                    <a:lnB w="9525" cap="flat" cmpd="sng" algn="ctr">
                      <a:solidFill>
                        <a:srgbClr val="D5DB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Rollout plan and next steps</a:t>
            </a:r>
            <a:endParaRPr lang="en-US" sz="3600" dirty="0"/>
          </a:p>
        </p:txBody>
      </p:sp>
      <p:sp>
        <p:nvSpPr>
          <p:cNvPr id="3" name="timeline line"/>
          <p:cNvSpPr/>
          <p:nvPr/>
        </p:nvSpPr>
        <p:spPr>
          <a:xfrm>
            <a:off x="822960" y="1920240"/>
            <a:ext cx="10515600" cy="0"/>
          </a:xfrm>
          <a:prstGeom prst="line">
            <a:avLst/>
          </a:prstGeom>
          <a:noFill/>
          <a:ln w="25400">
            <a:solidFill>
              <a:schemeClr val="accent5"/>
            </a:solidFill>
            <a:prstDash val="solid"/>
          </a:ln>
        </p:spPr>
      </p:sp>
      <p:sp>
        <p:nvSpPr>
          <p:cNvPr id="4" name="phase 1 dot"/>
          <p:cNvSpPr/>
          <p:nvPr/>
        </p:nvSpPr>
        <p:spPr>
          <a:xfrm>
            <a:off x="685800" y="1691640"/>
            <a:ext cx="457200" cy="457200"/>
          </a:xfrm>
          <a:prstGeom prst="ellipse">
            <a:avLst/>
          </a:prstGeom>
          <a:solidFill>
            <a:schemeClr val="accent1"/>
          </a:solidFill>
          <a:ln w="25400">
            <a:solidFill>
              <a:schemeClr val="bg1"/>
            </a:solidFill>
            <a:prstDash val="solid"/>
          </a:ln>
        </p:spPr>
      </p:sp>
      <p:sp>
        <p:nvSpPr>
          <p:cNvPr id="5" name="phase 1 name"/>
          <p:cNvSpPr txBox="1"/>
          <p:nvPr/>
        </p:nvSpPr>
        <p:spPr>
          <a:xfrm>
            <a:off x="548640" y="2331720"/>
            <a:ext cx="26517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Alpha</a:t>
            </a:r>
            <a:endParaRPr lang="en-US" sz="2000" dirty="0"/>
          </a:p>
        </p:txBody>
      </p:sp>
      <p:sp>
        <p:nvSpPr>
          <p:cNvPr id="6" name="phase 1 dates"/>
          <p:cNvSpPr txBox="1"/>
          <p:nvPr/>
        </p:nvSpPr>
        <p:spPr>
          <a:xfrm>
            <a:off x="548640" y="2743200"/>
            <a:ext cx="2651760" cy="320040"/>
          </a:xfrm>
          <a:prstGeom prst="rect">
            <a:avLst/>
          </a:prstGeom>
          <a:noFill/>
          <a:ln/>
        </p:spPr>
        <p:txBody>
          <a:bodyPr wrap="square" lIns="0" tIns="0" rIns="0" bIns="0" rtlCol="0" anchor="t"/>
          <a:lstStyle/>
          <a:p>
            <a:pPr indent="0" marL="0">
              <a:buNone/>
            </a:pPr>
            <a:r>
              <a:rPr lang="en-US" sz="1400" b="1" dirty="0">
                <a:solidFill>
                  <a:schemeClr val="accent5"/>
                </a:solidFill>
              </a:rPr>
              <a:t>13–24 Jul</a:t>
            </a:r>
            <a:endParaRPr lang="en-US" sz="1400" dirty="0"/>
          </a:p>
        </p:txBody>
      </p:sp>
      <p:sp>
        <p:nvSpPr>
          <p:cNvPr id="7" name="phase 1 body"/>
          <p:cNvSpPr txBox="1"/>
          <p:nvPr/>
        </p:nvSpPr>
        <p:spPr>
          <a:xfrm>
            <a:off x="548640" y="3108960"/>
            <a:ext cx="2560320" cy="1097280"/>
          </a:xfrm>
          <a:prstGeom prst="rect">
            <a:avLst/>
          </a:prstGeom>
          <a:noFill/>
          <a:ln/>
        </p:spPr>
        <p:txBody>
          <a:bodyPr wrap="square" lIns="0" tIns="0" rIns="0" bIns="0" rtlCol="0" anchor="t"/>
          <a:lstStyle/>
          <a:p>
            <a:pPr indent="0" marL="0">
              <a:buNone/>
            </a:pPr>
            <a:r>
              <a:rPr lang="en-US" sz="1400" dirty="0">
                <a:solidFill>
                  <a:schemeClr val="tx1"/>
                </a:solidFill>
              </a:rPr>
              <a:t>Run on the sample dataset; tune prompts and rules against the evals</a:t>
            </a:r>
            <a:endParaRPr lang="en-US" sz="1400" dirty="0"/>
          </a:p>
        </p:txBody>
      </p:sp>
      <p:sp>
        <p:nvSpPr>
          <p:cNvPr id="8" name="phase 2 dot"/>
          <p:cNvSpPr/>
          <p:nvPr/>
        </p:nvSpPr>
        <p:spPr>
          <a:xfrm>
            <a:off x="3520440" y="1691640"/>
            <a:ext cx="457200" cy="457200"/>
          </a:xfrm>
          <a:prstGeom prst="ellipse">
            <a:avLst/>
          </a:prstGeom>
          <a:solidFill>
            <a:schemeClr val="accent1"/>
          </a:solidFill>
          <a:ln w="25400">
            <a:solidFill>
              <a:schemeClr val="bg1"/>
            </a:solidFill>
            <a:prstDash val="solid"/>
          </a:ln>
        </p:spPr>
      </p:sp>
      <p:sp>
        <p:nvSpPr>
          <p:cNvPr id="9" name="phase 2 name"/>
          <p:cNvSpPr txBox="1"/>
          <p:nvPr/>
        </p:nvSpPr>
        <p:spPr>
          <a:xfrm>
            <a:off x="3383280" y="2331720"/>
            <a:ext cx="26517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Beta</a:t>
            </a:r>
            <a:endParaRPr lang="en-US" sz="2000" dirty="0"/>
          </a:p>
        </p:txBody>
      </p:sp>
      <p:sp>
        <p:nvSpPr>
          <p:cNvPr id="10" name="phase 2 dates"/>
          <p:cNvSpPr txBox="1"/>
          <p:nvPr/>
        </p:nvSpPr>
        <p:spPr>
          <a:xfrm>
            <a:off x="3383280" y="2743200"/>
            <a:ext cx="2651760" cy="320040"/>
          </a:xfrm>
          <a:prstGeom prst="rect">
            <a:avLst/>
          </a:prstGeom>
          <a:noFill/>
          <a:ln/>
        </p:spPr>
        <p:txBody>
          <a:bodyPr wrap="square" lIns="0" tIns="0" rIns="0" bIns="0" rtlCol="0" anchor="t"/>
          <a:lstStyle/>
          <a:p>
            <a:pPr indent="0" marL="0">
              <a:buNone/>
            </a:pPr>
            <a:r>
              <a:rPr lang="en-US" sz="1400" b="1" dirty="0">
                <a:solidFill>
                  <a:schemeClr val="accent5"/>
                </a:solidFill>
              </a:rPr>
              <a:t>27 Jul–21 Aug</a:t>
            </a:r>
            <a:endParaRPr lang="en-US" sz="1400" dirty="0"/>
          </a:p>
        </p:txBody>
      </p:sp>
      <p:sp>
        <p:nvSpPr>
          <p:cNvPr id="11" name="phase 2 body"/>
          <p:cNvSpPr txBox="1"/>
          <p:nvPr/>
        </p:nvSpPr>
        <p:spPr>
          <a:xfrm>
            <a:off x="3383280" y="3108960"/>
            <a:ext cx="2560320" cy="1097280"/>
          </a:xfrm>
          <a:prstGeom prst="rect">
            <a:avLst/>
          </a:prstGeom>
          <a:noFill/>
          <a:ln/>
        </p:spPr>
        <p:txBody>
          <a:bodyPr wrap="square" lIns="0" tIns="0" rIns="0" bIns="0" rtlCol="0" anchor="t"/>
          <a:lstStyle/>
          <a:p>
            <a:pPr indent="0" marL="0">
              <a:buNone/>
            </a:pPr>
            <a:r>
              <a:rPr lang="en-US" sz="1400" dirty="0">
                <a:solidFill>
                  <a:schemeClr val="tx1"/>
                </a:solidFill>
              </a:rPr>
              <a:t>Dhaval uses the brief, promise tracker and radar (F2, F3, F5) daily</a:t>
            </a:r>
            <a:endParaRPr lang="en-US" sz="1400" dirty="0"/>
          </a:p>
        </p:txBody>
      </p:sp>
      <p:sp>
        <p:nvSpPr>
          <p:cNvPr id="12" name="phase 3 dot"/>
          <p:cNvSpPr/>
          <p:nvPr/>
        </p:nvSpPr>
        <p:spPr>
          <a:xfrm>
            <a:off x="6355080" y="1691640"/>
            <a:ext cx="457200" cy="457200"/>
          </a:xfrm>
          <a:prstGeom prst="ellipse">
            <a:avLst/>
          </a:prstGeom>
          <a:solidFill>
            <a:schemeClr val="accent1"/>
          </a:solidFill>
          <a:ln w="25400">
            <a:solidFill>
              <a:schemeClr val="bg1"/>
            </a:solidFill>
            <a:prstDash val="solid"/>
          </a:ln>
        </p:spPr>
      </p:sp>
      <p:sp>
        <p:nvSpPr>
          <p:cNvPr id="13" name="phase 3 name"/>
          <p:cNvSpPr txBox="1"/>
          <p:nvPr/>
        </p:nvSpPr>
        <p:spPr>
          <a:xfrm>
            <a:off x="6217920" y="2331720"/>
            <a:ext cx="26517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Phased rollout</a:t>
            </a:r>
            <a:endParaRPr lang="en-US" sz="2000" dirty="0"/>
          </a:p>
        </p:txBody>
      </p:sp>
      <p:sp>
        <p:nvSpPr>
          <p:cNvPr id="14" name="phase 3 dates"/>
          <p:cNvSpPr txBox="1"/>
          <p:nvPr/>
        </p:nvSpPr>
        <p:spPr>
          <a:xfrm>
            <a:off x="6217920" y="2743200"/>
            <a:ext cx="2651760" cy="320040"/>
          </a:xfrm>
          <a:prstGeom prst="rect">
            <a:avLst/>
          </a:prstGeom>
          <a:noFill/>
          <a:ln/>
        </p:spPr>
        <p:txBody>
          <a:bodyPr wrap="square" lIns="0" tIns="0" rIns="0" bIns="0" rtlCol="0" anchor="t"/>
          <a:lstStyle/>
          <a:p>
            <a:pPr indent="0" marL="0">
              <a:buNone/>
            </a:pPr>
            <a:r>
              <a:rPr lang="en-US" sz="1400" b="1" dirty="0">
                <a:solidFill>
                  <a:schemeClr val="accent5"/>
                </a:solidFill>
              </a:rPr>
              <a:t>24 Aug–18 Sep</a:t>
            </a:r>
            <a:endParaRPr lang="en-US" sz="1400" dirty="0"/>
          </a:p>
        </p:txBody>
      </p:sp>
      <p:sp>
        <p:nvSpPr>
          <p:cNvPr id="15" name="phase 3 body"/>
          <p:cNvSpPr txBox="1"/>
          <p:nvPr/>
        </p:nvSpPr>
        <p:spPr>
          <a:xfrm>
            <a:off x="6217920" y="3108960"/>
            <a:ext cx="2560320" cy="1097280"/>
          </a:xfrm>
          <a:prstGeom prst="rect">
            <a:avLst/>
          </a:prstGeom>
          <a:noFill/>
          <a:ln/>
        </p:spPr>
        <p:txBody>
          <a:bodyPr wrap="square" lIns="0" tIns="0" rIns="0" bIns="0" rtlCol="0" anchor="t"/>
          <a:lstStyle/>
          <a:p>
            <a:pPr indent="0" marL="0">
              <a:buNone/>
            </a:pPr>
            <a:r>
              <a:rPr lang="en-US" sz="1400" dirty="0">
                <a:solidFill>
                  <a:schemeClr val="tx1"/>
                </a:solidFill>
              </a:rPr>
              <a:t>All founders; adds the lead catcher (F1) and CRM write-back</a:t>
            </a:r>
            <a:endParaRPr lang="en-US" sz="1400" dirty="0"/>
          </a:p>
        </p:txBody>
      </p:sp>
      <p:sp>
        <p:nvSpPr>
          <p:cNvPr id="16" name="phase 4 dot"/>
          <p:cNvSpPr/>
          <p:nvPr/>
        </p:nvSpPr>
        <p:spPr>
          <a:xfrm>
            <a:off x="9189720" y="1691640"/>
            <a:ext cx="457200" cy="457200"/>
          </a:xfrm>
          <a:prstGeom prst="ellipse">
            <a:avLst/>
          </a:prstGeom>
          <a:solidFill>
            <a:schemeClr val="accent2"/>
          </a:solidFill>
          <a:ln w="25400">
            <a:solidFill>
              <a:schemeClr val="bg1"/>
            </a:solidFill>
            <a:prstDash val="solid"/>
          </a:ln>
        </p:spPr>
      </p:sp>
      <p:sp>
        <p:nvSpPr>
          <p:cNvPr id="17" name="phase 4 name"/>
          <p:cNvSpPr txBox="1"/>
          <p:nvPr/>
        </p:nvSpPr>
        <p:spPr>
          <a:xfrm>
            <a:off x="9052560" y="2331720"/>
            <a:ext cx="26517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Full release</a:t>
            </a:r>
            <a:endParaRPr lang="en-US" sz="2000" dirty="0"/>
          </a:p>
        </p:txBody>
      </p:sp>
      <p:sp>
        <p:nvSpPr>
          <p:cNvPr id="18" name="phase 4 dates"/>
          <p:cNvSpPr txBox="1"/>
          <p:nvPr/>
        </p:nvSpPr>
        <p:spPr>
          <a:xfrm>
            <a:off x="9052560" y="2743200"/>
            <a:ext cx="2651760" cy="320040"/>
          </a:xfrm>
          <a:prstGeom prst="rect">
            <a:avLst/>
          </a:prstGeom>
          <a:noFill/>
          <a:ln/>
        </p:spPr>
        <p:txBody>
          <a:bodyPr wrap="square" lIns="0" tIns="0" rIns="0" bIns="0" rtlCol="0" anchor="t"/>
          <a:lstStyle/>
          <a:p>
            <a:pPr indent="0" marL="0">
              <a:buNone/>
            </a:pPr>
            <a:r>
              <a:rPr lang="en-US" sz="1400" b="1" dirty="0">
                <a:solidFill>
                  <a:schemeClr val="accent5"/>
                </a:solidFill>
              </a:rPr>
              <a:t>30 Sep</a:t>
            </a:r>
            <a:endParaRPr lang="en-US" sz="1400" dirty="0"/>
          </a:p>
        </p:txBody>
      </p:sp>
      <p:sp>
        <p:nvSpPr>
          <p:cNvPr id="19" name="phase 4 body"/>
          <p:cNvSpPr txBox="1"/>
          <p:nvPr/>
        </p:nvSpPr>
        <p:spPr>
          <a:xfrm>
            <a:off x="9052560" y="3108960"/>
            <a:ext cx="2560320" cy="1097280"/>
          </a:xfrm>
          <a:prstGeom prst="rect">
            <a:avLst/>
          </a:prstGeom>
          <a:noFill/>
          <a:ln/>
        </p:spPr>
        <p:txBody>
          <a:bodyPr wrap="square" lIns="0" tIns="0" rIns="0" bIns="0" rtlCol="0" anchor="t"/>
          <a:lstStyle/>
          <a:p>
            <a:pPr indent="0" marL="0">
              <a:buNone/>
            </a:pPr>
            <a:r>
              <a:rPr lang="en-US" sz="1400" dirty="0">
                <a:solidFill>
                  <a:schemeClr val="tx1"/>
                </a:solidFill>
              </a:rPr>
              <a:t>Everyone; the cross-sell spotter (F4) follows after version 1</a:t>
            </a:r>
            <a:endParaRPr lang="en-US" sz="1400" dirty="0"/>
          </a:p>
        </p:txBody>
      </p:sp>
      <p:sp>
        <p:nvSpPr>
          <p:cNvPr id="20" name="next steps card"/>
          <p:cNvSpPr/>
          <p:nvPr/>
        </p:nvSpPr>
        <p:spPr>
          <a:xfrm>
            <a:off x="548640" y="4434840"/>
            <a:ext cx="11091672" cy="1645920"/>
          </a:xfrm>
          <a:prstGeom prst="roundRect">
            <a:avLst>
              <a:gd name="adj" fmla="val 4444"/>
            </a:avLst>
          </a:prstGeom>
          <a:solidFill>
            <a:schemeClr val="bg2"/>
          </a:solidFill>
          <a:ln w="12700">
            <a:solidFill>
              <a:schemeClr val="bg2"/>
            </a:solidFill>
            <a:prstDash val="solid"/>
          </a:ln>
        </p:spPr>
      </p:sp>
      <p:sp>
        <p:nvSpPr>
          <p:cNvPr id="21" name="next steps heading"/>
          <p:cNvSpPr txBox="1"/>
          <p:nvPr/>
        </p:nvSpPr>
        <p:spPr>
          <a:xfrm>
            <a:off x="822960" y="4572000"/>
            <a:ext cx="10515600" cy="411480"/>
          </a:xfrm>
          <a:prstGeom prst="rect">
            <a:avLst/>
          </a:prstGeom>
          <a:noFill/>
          <a:ln/>
        </p:spPr>
        <p:txBody>
          <a:bodyPr wrap="square" lIns="0" tIns="0" rIns="0" bIns="0" rtlCol="0" anchor="t"/>
          <a:lstStyle/>
          <a:p>
            <a:pPr indent="0" marL="0">
              <a:buNone/>
            </a:pPr>
            <a:r>
              <a:rPr lang="en-US" sz="1800" b="1" dirty="0">
                <a:solidFill>
                  <a:schemeClr val="tx2"/>
                </a:solidFill>
              </a:rPr>
              <a:t>Before a real launch</a:t>
            </a:r>
            <a:endParaRPr lang="en-US" sz="1800" dirty="0"/>
          </a:p>
        </p:txBody>
      </p:sp>
      <p:sp>
        <p:nvSpPr>
          <p:cNvPr id="22" name="next steps list"/>
          <p:cNvSpPr txBox="1"/>
          <p:nvPr/>
        </p:nvSpPr>
        <p:spPr>
          <a:xfrm>
            <a:off x="822960" y="4983480"/>
            <a:ext cx="10515600" cy="1051560"/>
          </a:xfrm>
          <a:prstGeom prst="rect">
            <a:avLst/>
          </a:prstGeom>
          <a:noFill/>
          <a:ln/>
        </p:spPr>
        <p:txBody>
          <a:bodyPr wrap="square" lIns="0" tIns="0" rIns="0" bIns="0" rtlCol="0" anchor="t"/>
          <a:lstStyle/>
          <a:p>
            <a:pPr marL="177800" indent="-177800">
              <a:spcAft>
                <a:spcPts val="400"/>
              </a:spcAft>
              <a:buSzPct val="100000"/>
              <a:buChar char="•"/>
            </a:pPr>
            <a:r>
              <a:rPr lang="en-US" sz="1400" dirty="0">
                <a:solidFill>
                  <a:schemeClr val="tx1"/>
                </a:solidFill>
              </a:rPr>
              <a:t>Connect live Gmail and the CRM instead of the frozen sample files</a:t>
            </a:r>
            <a:endParaRPr lang="en-US" sz="1400" dirty="0"/>
          </a:p>
          <a:p>
            <a:pPr marL="177800" indent="-177800">
              <a:spcAft>
                <a:spcPts val="400"/>
              </a:spcAft>
              <a:buSzPct val="100000"/>
              <a:buChar char="•"/>
            </a:pPr>
            <a:r>
              <a:rPr lang="en-US" sz="1400" dirty="0">
                <a:solidFill>
                  <a:schemeClr val="tx1"/>
                </a:solidFill>
              </a:rPr>
              <a:t>Move decisions and the audit log to a server, with sign-in for each founder</a:t>
            </a:r>
            <a:endParaRPr lang="en-US" sz="1400" dirty="0"/>
          </a:p>
          <a:p>
            <a:pPr marL="177800" indent="-177800">
              <a:spcAft>
                <a:spcPts val="400"/>
              </a:spcAft>
              <a:buSzPct val="100000"/>
              <a:buChar char="•"/>
            </a:pPr>
            <a:r>
              <a:rPr lang="en-US" sz="1400" dirty="0">
                <a:solidFill>
                  <a:schemeClr val="tx1"/>
                </a:solidFill>
              </a:rPr>
              <a:t>Review real “Not useful” feedback weekly and grow the eval set from it</a:t>
            </a:r>
            <a:endParaRPr lang="en-US" sz="1400" dirty="0"/>
          </a:p>
        </p:txBody>
      </p:sp>
      <p:sp>
        <p:nvSpPr>
          <p:cNvPr id="25" name="Slide Number Placeholder 0"/>
          <p:cNvSpPr>
            <a:spLocks noGrp="1"/>
          </p:cNvSpPr>
          <p:nvPr>
            <p:ph type="sldNum" sz="quarter" idx="4294967295"/>
          </p:nvPr>
        </p:nvSpPr>
        <p:spPr>
          <a:xfrm>
            <a:off x="11155680" y="640080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10698480" cy="1280160"/>
          </a:xfrm>
          <a:prstGeom prst="rect">
            <a:avLst/>
          </a:prstGeom>
          <a:noFill/>
          <a:ln/>
        </p:spPr>
        <p:txBody>
          <a:bodyPr wrap="square" lIns="0" tIns="0" rIns="0" bIns="0" rtlCol="0" anchor="b"/>
          <a:lstStyle/>
          <a:p>
            <a:pPr algn="l"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3" name="Text 0"/>
          <p:cNvSpPr/>
          <p:nvPr>
            <p:ph idx="101" type="body" hasCustomPrompt="1"/>
          </p:nvPr>
        </p:nvSpPr>
        <p:spPr>
          <a:xfrm>
            <a:off x="731520" y="3383280"/>
            <a:ext cx="9601200" cy="1097280"/>
          </a:xfrm>
          <a:prstGeom prst="rect">
            <a:avLst/>
          </a:prstGeom>
          <a:noFill/>
          <a:ln/>
        </p:spPr>
        <p:txBody>
          <a:bodyPr wrap="square" lIns="0" tIns="0" rIns="0" bIns="0" rtlCol="0" anchor="t"/>
          <a:lstStyle/>
          <a:p>
            <a:pPr algn="l" indent="0" marL="0">
              <a:buNone/>
            </a:pPr>
            <a:r>
              <a:rPr lang="en-US" sz="2200" dirty="0">
                <a:solidFill>
                  <a:schemeClr val="bg2"/>
                </a:solidFill>
              </a:rPr>
              <a:t>Nothing slips, the CRM stays right, and a person always presses Send.</a:t>
            </a:r>
            <a:endParaRPr lang="en-US" sz="2200" dirty="0"/>
          </a:p>
        </p:txBody>
      </p:sp>
      <p:pic>
        <p:nvPicPr>
          <p:cNvPr id="4" name="link 1 icon" descr="preencoded.png">    </p:cNvPr>
          <p:cNvPicPr>
            <a:picLocks noChangeAspect="1"/>
          </p:cNvPicPr>
          <p:nvPr/>
        </p:nvPicPr>
        <p:blipFill>
          <a:blip r:embed="rId1"/>
          <a:stretch>
            <a:fillRect/>
          </a:stretch>
        </p:blipFill>
        <p:spPr>
          <a:xfrm>
            <a:off x="731520" y="4937760"/>
            <a:ext cx="320040" cy="320040"/>
          </a:xfrm>
          <a:prstGeom prst="rect">
            <a:avLst/>
          </a:prstGeom>
        </p:spPr>
      </p:pic>
      <p:sp>
        <p:nvSpPr>
          <p:cNvPr id="5" name="link 1 text"/>
          <p:cNvSpPr txBox="1"/>
          <p:nvPr/>
        </p:nvSpPr>
        <p:spPr>
          <a:xfrm>
            <a:off x="1234440" y="4892040"/>
            <a:ext cx="10058400" cy="411480"/>
          </a:xfrm>
          <a:prstGeom prst="rect">
            <a:avLst/>
          </a:prstGeom>
          <a:noFill/>
          <a:ln/>
        </p:spPr>
        <p:txBody>
          <a:bodyPr wrap="square" lIns="0" tIns="0" rIns="0" bIns="0" rtlCol="0" anchor="ctr"/>
          <a:lstStyle/>
          <a:p>
            <a:pPr indent="0" marL="0">
              <a:buNone/>
            </a:pPr>
            <a:r>
              <a:rPr lang="en-US" sz="1600" u="sng" dirty="0">
                <a:solidFill>
                  <a:schemeClr val="bg1"/>
                </a:solidFill>
                <a:hlinkClick r:id="rId2" invalidUrl="" action="" tgtFrame="" tooltip="" history="1" highlightClick="0" endSnd="0">
                  <a:extLst>
                    <a:ext uri="{A12FA001-AC4F-418D-AE19-62706E023703}">
                      <ahyp:hlinkClr xmlns:ahyp="http://schemas.microsoft.com/office/drawing/2018/hyperlinkcolor" val="tx"/>
                    </a:ext>
                  </a:extLst>
                </a:hlinkClick>
              </a:rPr>
              <a:t>Code and README: github.com/kvsmisc96-cloud/atliq-sales-memory</a:t>
            </a:r>
            <a:endParaRPr lang="en-US" sz="1600" dirty="0"/>
          </a:p>
        </p:txBody>
      </p:sp>
      <p:pic>
        <p:nvPicPr>
          <p:cNvPr id="6" name="link 2 icon" descr="preencoded.png">    </p:cNvPr>
          <p:cNvPicPr>
            <a:picLocks noChangeAspect="1"/>
          </p:cNvPicPr>
          <p:nvPr/>
        </p:nvPicPr>
        <p:blipFill>
          <a:blip r:embed="rId3"/>
          <a:stretch>
            <a:fillRect/>
          </a:stretch>
        </p:blipFill>
        <p:spPr>
          <a:xfrm>
            <a:off x="731520" y="5486400"/>
            <a:ext cx="320040" cy="320040"/>
          </a:xfrm>
          <a:prstGeom prst="rect">
            <a:avLst/>
          </a:prstGeom>
        </p:spPr>
      </p:pic>
      <p:sp>
        <p:nvSpPr>
          <p:cNvPr id="7" name="link 2 text"/>
          <p:cNvSpPr txBox="1"/>
          <p:nvPr/>
        </p:nvSpPr>
        <p:spPr>
          <a:xfrm>
            <a:off x="1234440" y="5440680"/>
            <a:ext cx="10058400" cy="411480"/>
          </a:xfrm>
          <a:prstGeom prst="rect">
            <a:avLst/>
          </a:prstGeom>
          <a:noFill/>
          <a:ln/>
        </p:spPr>
        <p:txBody>
          <a:bodyPr wrap="square" lIns="0" tIns="0" rIns="0" bIns="0" rtlCol="0" anchor="ctr"/>
          <a:lstStyle/>
          <a:p>
            <a:pPr indent="0" marL="0">
              <a:buNone/>
            </a:pPr>
            <a:r>
              <a:rPr lang="en-US" sz="1600" dirty="0">
                <a:solidFill>
                  <a:schemeClr val="bg1"/>
                </a:solidFill>
              </a:rPr>
              <a:t>Also delivered: problem discovery worksheet, opportunity map, AI PRD, cost estimate</a:t>
            </a:r>
            <a:endParaRPr lang="en-US" sz="1600" dirty="0"/>
          </a:p>
        </p:txBody>
      </p:sp>
    </p:spTree>
  </p:cSld>
  <p:clrMapOvr>
    <a:masterClrMapping/>
  </p:clrMapOvr>
</p:sld>
</file>

<file path=ppt/theme/theme1.xml><?xml version="1.0" encoding="utf-8"?>
<a:theme xmlns:a="http://schemas.openxmlformats.org/drawingml/2006/main" name="AtliQ Sales Memory">
  <a:themeElements>
    <a:clrScheme name="AtliQ Sales Memory">
      <a:dk1>
        <a:srgbClr val="1B2333"/>
      </a:dk1>
      <a:lt1>
        <a:srgbClr val="FFFFFF"/>
      </a:lt1>
      <a:dk2>
        <a:srgbClr val="1F3864"/>
      </a:dk2>
      <a:lt2>
        <a:srgbClr val="EEF2F8"/>
      </a:lt2>
      <a:accent1>
        <a:srgbClr val="E8A33D"/>
      </a:accent1>
      <a:accent2>
        <a:srgbClr val="2A9D8F"/>
      </a:accent2>
      <a:accent3>
        <a:srgbClr val="C0392B"/>
      </a:accent3>
      <a:accent4>
        <a:srgbClr val="5B7DB1"/>
      </a:accent4>
      <a:accent5>
        <a:srgbClr val="6B7385"/>
      </a:accent5>
      <a:accent6>
        <a:srgbClr val="FBF0DC"/>
      </a:accent6>
      <a:hlink>
        <a:srgbClr val="2F6DB5"/>
      </a:hlink>
      <a:folHlink>
        <a:srgbClr val="6B4FA0"/>
      </a:folHlink>
    </a:clrScheme>
    <a:fontScheme name="AtliQ Sales Mem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AtliQ Sales Memory Assistant</dc:title>
  <dc:subject>Codebasics AI PM Capstone</dc:subject>
  <dc:creator>Venkat</dc:creator>
  <cp:lastModifiedBy>Venkat</cp:lastModifiedBy>
  <cp:revision>1</cp:revision>
  <dcterms:created xsi:type="dcterms:W3CDTF">2026-10-09T08:27:42Z</dcterms:created>
  <dcterms:modified xsi:type="dcterms:W3CDTF">2026-10-09T08:27:42Z</dcterms:modified>
</cp:coreProperties>
</file>